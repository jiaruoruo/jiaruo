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330" r:id="rId3"/>
    <p:sldId id="331" r:id="rId4"/>
    <p:sldId id="317" r:id="rId5"/>
    <p:sldId id="333" r:id="rId6"/>
    <p:sldId id="319" r:id="rId7"/>
    <p:sldId id="321" r:id="rId8"/>
    <p:sldId id="318" r:id="rId9"/>
    <p:sldId id="332" r:id="rId10"/>
    <p:sldId id="320" r:id="rId11"/>
    <p:sldId id="265" r:id="rId12"/>
    <p:sldId id="323" r:id="rId13"/>
    <p:sldId id="322" r:id="rId14"/>
    <p:sldId id="324" r:id="rId15"/>
    <p:sldId id="326" r:id="rId16"/>
    <p:sldId id="325" r:id="rId17"/>
    <p:sldId id="327" r:id="rId18"/>
    <p:sldId id="328" r:id="rId19"/>
    <p:sldId id="334" r:id="rId20"/>
    <p:sldId id="329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  <p15:guide id="5" orient="horz" pos="340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74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E9EBF5"/>
    <a:srgbClr val="0066C6"/>
    <a:srgbClr val="F3F5F7"/>
    <a:srgbClr val="243BD6"/>
    <a:srgbClr val="5BB9FF"/>
    <a:srgbClr val="02BA84"/>
    <a:srgbClr val="273ED9"/>
    <a:srgbClr val="E6FAFB"/>
    <a:srgbClr val="E6F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74" autoAdjust="0"/>
    <p:restoredTop sz="96387" autoAdjust="0"/>
  </p:normalViewPr>
  <p:slideViewPr>
    <p:cSldViewPr snapToGrid="0" showGuides="1">
      <p:cViewPr varScale="1">
        <p:scale>
          <a:sx n="100" d="100"/>
          <a:sy n="100" d="100"/>
        </p:scale>
        <p:origin x="413" y="77"/>
      </p:cViewPr>
      <p:guideLst>
        <p:guide pos="257"/>
        <p:guide orient="horz" pos="4156"/>
        <p:guide orient="horz" pos="340"/>
        <p:guide pos="3840"/>
        <p:guide pos="74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IO类别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A36-42E2-A876-CFB166A66E0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FA36-42E2-A876-CFB166A66E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5A9-42B0-9A1C-166F82BC0F40}"/>
              </c:ext>
            </c:extLst>
          </c:dPt>
          <c:dLbls>
            <c:dLbl>
              <c:idx val="0"/>
              <c:layout>
                <c:manualLayout>
                  <c:x val="-0.1611013591453935"/>
                  <c:y val="-0.2670383943263926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36-42E2-A876-CFB166A66E0D}"/>
                </c:ext>
              </c:extLst>
            </c:dLbl>
            <c:dLbl>
              <c:idx val="1"/>
              <c:layout>
                <c:manualLayout>
                  <c:x val="0.10780881689151911"/>
                  <c:y val="0.13878183265350486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A36-42E2-A876-CFB166A66E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QM</c:v>
                </c:pt>
                <c:pt idx="1">
                  <c:v>ASIL B</c:v>
                </c:pt>
                <c:pt idx="2">
                  <c:v>ASIL C/D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10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6-42E2-A876-CFB166A66E0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采集周期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CC7-45CD-9B49-BF270BFAC64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CC7-45CD-9B49-BF270BFAC64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CC7-45CD-9B49-BF270BFAC645}"/>
              </c:ext>
            </c:extLst>
          </c:dPt>
          <c:dLbls>
            <c:dLbl>
              <c:idx val="0"/>
              <c:layout>
                <c:manualLayout>
                  <c:x val="-0.1611013591453935"/>
                  <c:y val="-0.26703839432639265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C7-45CD-9B49-BF270BFAC645}"/>
                </c:ext>
              </c:extLst>
            </c:dLbl>
            <c:dLbl>
              <c:idx val="1"/>
              <c:layout>
                <c:manualLayout>
                  <c:x val="0.12054767039470382"/>
                  <c:y val="0.10452743359299241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CC7-45CD-9B49-BF270BFAC6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10ms</c:v>
                </c:pt>
                <c:pt idx="1">
                  <c:v>1ms</c:v>
                </c:pt>
                <c:pt idx="2">
                  <c:v>≤20KHz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</c:v>
                </c:pt>
                <c:pt idx="1">
                  <c:v>20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C7-45CD-9B49-BF270BFAC645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EDE15-EEE2-4081-8EBB-DB4110CD7C88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FF83F-F741-4C1E-8A5E-1EAB50BE1B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BE7F37DF-4F16-9745-AA28-38E3DD3536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925" y="476398"/>
            <a:ext cx="1988041" cy="3630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488F5A6-0D36-F24F-8BD3-9439F7A93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4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ecre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Top Secret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16CA02FD-67E8-0B41-8338-DB6C47B001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Confidential</a:t>
            </a:r>
          </a:p>
        </p:txBody>
      </p:sp>
      <p:sp>
        <p:nvSpPr>
          <p:cNvPr id="9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C89E1347-505D-5E4D-98BA-4AF5EB6943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re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Secret </a:t>
            </a:r>
          </a:p>
        </p:txBody>
      </p:sp>
      <p:sp>
        <p:nvSpPr>
          <p:cNvPr id="10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2B82-B500-C3DE-15CB-50EF1FC8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5C6DDD2A-1492-4344-B915-C37ED6EC38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U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Internal Use</a:t>
            </a:r>
          </a:p>
        </p:txBody>
      </p:sp>
      <p:sp>
        <p:nvSpPr>
          <p:cNvPr id="9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EFD3D-8087-3DB1-FED2-C37282A5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3BAA0596-E59F-2344-B943-692DF4B09F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 U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5C410-9AB5-0AC6-23D8-CDFE694E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3E9000-A4E3-E54E-B477-5F6B88DF48F3}"/>
              </a:ext>
            </a:extLst>
          </p:cNvPr>
          <p:cNvSpPr txBox="1"/>
          <p:nvPr userDrawn="1"/>
        </p:nvSpPr>
        <p:spPr>
          <a:xfrm>
            <a:off x="325120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"/>
                <a:ea typeface="Verdana" panose="020B0604030504040204" pitchFamily="34" charset="0"/>
                <a:cs typeface="Times New Roman" panose="02020603050405020304" pitchFamily="18" charset="0"/>
              </a:rPr>
              <a:t>External Use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6CDDDEF9-6BE6-3D4F-9D9C-AC427D0725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FA2FFF-CEB9-41D2-9A75-32205B2BEC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882" y="2924550"/>
            <a:ext cx="3140308" cy="100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98F1E-8F98-469F-A0E7-D0596213CD0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1FD71-6158-49F1-8270-C043196D043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738554" y="2223132"/>
            <a:ext cx="1051425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6000" b="1" spc="100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GPAN </a:t>
            </a:r>
            <a:r>
              <a:rPr lang="zh-CN" altLang="en-US" sz="6000" b="1" spc="100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车载</a:t>
            </a:r>
            <a:r>
              <a:rPr lang="en-US" altLang="zh-CN" sz="6000" b="1" spc="1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MCULess</a:t>
            </a:r>
            <a:r>
              <a:rPr lang="zh-CN" altLang="en-US" sz="6000" b="1" spc="100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应用</a:t>
            </a:r>
            <a:r>
              <a:rPr lang="zh-CN" altLang="en-US" sz="6000" b="1" spc="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分析</a:t>
            </a:r>
            <a:endParaRPr lang="en-US" altLang="zh-CN" sz="6000" b="1" spc="100" dirty="0" smtClean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r"/>
            <a:r>
              <a:rPr lang="en-US" altLang="zh-CN" sz="3200" b="1" spc="100" dirty="0" smtClean="0">
                <a:latin typeface="Noto Sans" panose="020B0502040504020204" pitchFamily="34" charset="0"/>
              </a:rPr>
              <a:t>(</a:t>
            </a:r>
            <a:r>
              <a:rPr lang="en-US" altLang="zh-CN" sz="3200" b="1" dirty="0" smtClean="0"/>
              <a:t>G</a:t>
            </a:r>
            <a:r>
              <a:rPr lang="en-US" altLang="zh-CN" sz="3200" dirty="0" smtClean="0"/>
              <a:t>eneral </a:t>
            </a:r>
            <a:r>
              <a:rPr lang="en-US" altLang="zh-CN" sz="3200" b="1" dirty="0"/>
              <a:t>P</a:t>
            </a:r>
            <a:r>
              <a:rPr lang="en-US" altLang="zh-CN" sz="3200" dirty="0"/>
              <a:t>urpose </a:t>
            </a:r>
            <a:r>
              <a:rPr lang="en-US" altLang="zh-CN" sz="3200" b="1" dirty="0"/>
              <a:t>A</a:t>
            </a:r>
            <a:r>
              <a:rPr lang="en-US" altLang="zh-CN" sz="3200" dirty="0"/>
              <a:t>ccess </a:t>
            </a:r>
            <a:r>
              <a:rPr lang="en-US" altLang="zh-CN" sz="3200" b="1" dirty="0" smtClean="0"/>
              <a:t>N</a:t>
            </a:r>
            <a:r>
              <a:rPr lang="en-US" altLang="zh-CN" sz="3200" dirty="0" smtClean="0"/>
              <a:t>etwork)</a:t>
            </a:r>
            <a:endParaRPr lang="en-US" altLang="zh-CN" sz="3200" b="1" spc="100" dirty="0" smtClean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8671711" cy="563228"/>
          </a:xfrm>
        </p:spPr>
        <p:txBody>
          <a:bodyPr/>
          <a:lstStyle/>
          <a:p>
            <a:r>
              <a:rPr lang="en-US" altLang="zh-CN" dirty="0" smtClean="0"/>
              <a:t>GPAN </a:t>
            </a:r>
            <a:r>
              <a:rPr lang="zh-CN" altLang="en-US" dirty="0"/>
              <a:t>整体介绍 </a:t>
            </a:r>
            <a:r>
              <a:rPr lang="en-US" altLang="zh-CN" dirty="0"/>
              <a:t>--- GPAN</a:t>
            </a:r>
            <a:r>
              <a:rPr lang="zh-CN" altLang="en-US" dirty="0"/>
              <a:t>是什么？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385940"/>
              </p:ext>
            </p:extLst>
          </p:nvPr>
        </p:nvGraphicFramePr>
        <p:xfrm>
          <a:off x="7723998" y="699542"/>
          <a:ext cx="4021886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1886">
                  <a:extLst>
                    <a:ext uri="{9D8B030D-6E8A-4147-A177-3AD203B41FA5}">
                      <a16:colId xmlns:a16="http://schemas.microsoft.com/office/drawing/2014/main" val="3073278074"/>
                    </a:ext>
                  </a:extLst>
                </a:gridCol>
              </a:tblGrid>
              <a:tr h="3168352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u"/>
                        <a:tabLst/>
                        <a:defRPr/>
                      </a:pPr>
                      <a:r>
                        <a:rPr kumimoji="0" lang="en-US" altLang="zh-C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GPAN</a:t>
                      </a:r>
                      <a:r>
                        <a:rPr kumimoji="0" lang="zh-CN" alt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解决方案：一种高效组网的</a:t>
                      </a:r>
                      <a:r>
                        <a:rPr kumimoji="0" lang="en-US" altLang="zh-CN" sz="1600" b="1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MCULess</a:t>
                      </a:r>
                      <a:r>
                        <a:rPr kumimoji="0" lang="en-US" altLang="zh-CN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 IO</a:t>
                      </a:r>
                      <a:r>
                        <a:rPr kumimoji="0" lang="zh-CN" altLang="en-US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微软雅黑"/>
                          <a:cs typeface="+mn-cs"/>
                        </a:rPr>
                        <a:t>扩展芯片方案</a:t>
                      </a:r>
                      <a:endParaRPr kumimoji="0" lang="en-US" altLang="zh-CN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微软雅黑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成本低</a:t>
                      </a:r>
                      <a:r>
                        <a:rPr lang="zh-CN" altLang="en-US" sz="1400" b="0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zh-CN" altLang="en-US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大部分</a:t>
                      </a:r>
                      <a:r>
                        <a:rPr lang="en-US" altLang="zh-CN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ZCU/ECU</a:t>
                      </a:r>
                      <a:r>
                        <a:rPr lang="zh-CN" altLang="en-US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节点无需</a:t>
                      </a:r>
                      <a:r>
                        <a:rPr lang="en-US" altLang="zh-CN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，直接采样</a:t>
                      </a:r>
                      <a:r>
                        <a:rPr lang="en-US" altLang="zh-CN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GPAN</a:t>
                      </a:r>
                      <a:r>
                        <a:rPr lang="zh-CN" altLang="en-US" sz="1400" b="1" kern="1200" noProof="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芯片远程高效可靠的控制外设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，节约了硬件和软件开发维护成本</a:t>
                      </a:r>
                      <a:endParaRPr lang="en-US" altLang="zh-CN" sz="1400" b="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b="1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时延短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：每个节点交换时延约</a:t>
                      </a:r>
                      <a:r>
                        <a:rPr lang="en-US" altLang="zh-CN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1.4us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，支持丰富外设直接远程访问外设数据，远程处理时延为</a:t>
                      </a:r>
                      <a:r>
                        <a:rPr lang="en-US" altLang="zh-CN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100us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内</a:t>
                      </a:r>
                      <a:endParaRPr lang="en-US" altLang="zh-CN" sz="1400" b="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b="1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总线类型少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</a:t>
                      </a:r>
                      <a:r>
                        <a:rPr lang="en-US" altLang="zh-CN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GPAN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可以支持以太网包、</a:t>
                      </a:r>
                      <a:r>
                        <a:rPr lang="en-US" altLang="zh-CN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CAN/LIN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的控制数据、音频、视频数据，组网简单</a:t>
                      </a:r>
                      <a:endParaRPr lang="en-US" altLang="zh-CN" sz="1400" b="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b="1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线束少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：由于支持了多种总线，带宽高，所需线束少</a:t>
                      </a:r>
                      <a:endParaRPr lang="en-US" altLang="zh-CN" sz="1400" b="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b="1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可扩展性好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：一种总线，</a:t>
                      </a:r>
                      <a:r>
                        <a:rPr lang="en-US" altLang="zh-CN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100M/1G/2.5G/5G/10G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协议兼容</a:t>
                      </a:r>
                      <a:endParaRPr lang="en-US" altLang="zh-CN" sz="1400" b="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b="1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管理维护容易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：仅</a:t>
                      </a:r>
                      <a:r>
                        <a:rPr lang="en-US" altLang="zh-CN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GPAN</a:t>
                      </a:r>
                      <a:r>
                        <a:rPr lang="zh-CN" altLang="en-US" sz="1400" b="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总线，管理维护简单</a:t>
                      </a:r>
                      <a:endParaRPr lang="en-US" altLang="zh-CN" sz="1400" b="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773184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914400"/>
            <a:ext cx="6844983" cy="535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4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0329974" cy="563228"/>
          </a:xfrm>
        </p:spPr>
        <p:txBody>
          <a:bodyPr/>
          <a:lstStyle/>
          <a:p>
            <a:r>
              <a:rPr lang="en-US" altLang="zh-CN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GPAN</a:t>
            </a:r>
            <a:r>
              <a:rPr lang="zh-CN" altLang="en-US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概要介绍 </a:t>
            </a:r>
            <a:r>
              <a:rPr lang="en-US" altLang="zh-CN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--- </a:t>
            </a:r>
            <a:r>
              <a:rPr lang="zh-CN" altLang="en-US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高效</a:t>
            </a:r>
            <a:r>
              <a:rPr lang="en-US" altLang="zh-CN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/</a:t>
            </a:r>
            <a:r>
              <a:rPr lang="zh-CN" altLang="en-US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可靠</a:t>
            </a:r>
            <a:r>
              <a:rPr lang="en-US" altLang="zh-CN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/</a:t>
            </a:r>
            <a:r>
              <a:rPr lang="zh-CN" altLang="en-US" dirty="0" smtClean="0"/>
              <a:t>低成本</a:t>
            </a:r>
            <a:r>
              <a:rPr lang="en-US" altLang="zh-CN" dirty="0" smtClean="0"/>
              <a:t>/</a:t>
            </a:r>
            <a:r>
              <a:rPr lang="zh-CN" altLang="en-US" dirty="0" smtClean="0"/>
              <a:t>低时延</a:t>
            </a:r>
            <a:r>
              <a:rPr lang="zh-CN" altLang="en-US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组网的</a:t>
            </a:r>
            <a:r>
              <a:rPr lang="en-US" altLang="zh-CN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IO</a:t>
            </a:r>
            <a:r>
              <a:rPr lang="zh-CN" altLang="en-US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扩展芯片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209608" y="597941"/>
            <a:ext cx="0" cy="60070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6294201" y="597942"/>
            <a:ext cx="29610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1" dirty="0" smtClean="0"/>
              <a:t>IO</a:t>
            </a:r>
            <a:r>
              <a:rPr lang="zh-CN" altLang="en-US" sz="1600" b="1" dirty="0" smtClean="0"/>
              <a:t>扩展</a:t>
            </a:r>
            <a:r>
              <a:rPr lang="en-US" altLang="zh-CN" sz="1600" b="1" dirty="0" smtClean="0"/>
              <a:t>(</a:t>
            </a:r>
            <a:r>
              <a:rPr lang="en-US" altLang="zh-CN" sz="1600" b="1" dirty="0" err="1" smtClean="0"/>
              <a:t>MCULess</a:t>
            </a:r>
            <a:r>
              <a:rPr lang="en-US" altLang="zh-CN" sz="1600" b="1" dirty="0" smtClean="0"/>
              <a:t>)</a:t>
            </a:r>
            <a:r>
              <a:rPr lang="zh-CN" altLang="en-US" sz="1600" b="1" dirty="0" smtClean="0"/>
              <a:t>功能框图</a:t>
            </a:r>
            <a:r>
              <a:rPr lang="en-US" altLang="zh-CN" sz="1600" b="1" dirty="0" smtClean="0"/>
              <a:t> </a:t>
            </a:r>
            <a:endParaRPr lang="zh-CN" altLang="en-US" sz="16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281616" y="3123968"/>
            <a:ext cx="53977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600" b="1" dirty="0" smtClean="0"/>
              <a:t>典型车载应用场景</a:t>
            </a:r>
            <a:r>
              <a:rPr lang="en-US" altLang="zh-CN" sz="1400" b="1" dirty="0" smtClean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endParaRPr lang="zh-CN" altLang="en-US" sz="1400" b="1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6672" y="588416"/>
            <a:ext cx="6096000" cy="553997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chemeClr val="dk1"/>
                </a:solidFill>
              </a:rPr>
              <a:t>组网</a:t>
            </a:r>
            <a:r>
              <a:rPr lang="zh-CN" altLang="en-US" sz="2000" b="1" dirty="0" smtClean="0">
                <a:solidFill>
                  <a:schemeClr val="dk1"/>
                </a:solidFill>
              </a:rPr>
              <a:t>和</a:t>
            </a:r>
            <a:r>
              <a:rPr lang="en-US" altLang="zh-CN" sz="2000" b="1" dirty="0" smtClean="0">
                <a:solidFill>
                  <a:schemeClr val="dk1"/>
                </a:solidFill>
              </a:rPr>
              <a:t>IO</a:t>
            </a:r>
            <a:r>
              <a:rPr lang="zh-CN" altLang="en-US" sz="2000" b="1" dirty="0" smtClean="0">
                <a:solidFill>
                  <a:schemeClr val="dk1"/>
                </a:solidFill>
              </a:rPr>
              <a:t>扩展</a:t>
            </a:r>
            <a:r>
              <a:rPr lang="en-US" altLang="zh-CN" sz="2000" b="1" dirty="0" smtClean="0">
                <a:solidFill>
                  <a:schemeClr val="dk1"/>
                </a:solidFill>
              </a:rPr>
              <a:t>(</a:t>
            </a:r>
            <a:r>
              <a:rPr lang="en-US" altLang="zh-CN" sz="2000" b="1" dirty="0" err="1" smtClean="0">
                <a:solidFill>
                  <a:schemeClr val="dk1"/>
                </a:solidFill>
              </a:rPr>
              <a:t>MCULess</a:t>
            </a:r>
            <a:r>
              <a:rPr lang="en-US" altLang="zh-CN" sz="2000" b="1" dirty="0" smtClean="0">
                <a:solidFill>
                  <a:schemeClr val="dk1"/>
                </a:solidFill>
              </a:rPr>
              <a:t>)</a:t>
            </a:r>
            <a:r>
              <a:rPr lang="zh-CN" altLang="en-US" sz="2000" b="1" dirty="0" smtClean="0">
                <a:solidFill>
                  <a:schemeClr val="dk1"/>
                </a:solidFill>
              </a:rPr>
              <a:t>优势</a:t>
            </a:r>
            <a:endParaRPr lang="en-US" altLang="zh-CN" sz="2000" b="1" dirty="0">
              <a:solidFill>
                <a:schemeClr val="dk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 smtClean="0"/>
              <a:t>支持</a:t>
            </a:r>
            <a:r>
              <a:rPr lang="zh-CN" altLang="en-US" sz="1400" dirty="0"/>
              <a:t>控制数据、音频数据</a:t>
            </a:r>
            <a:r>
              <a:rPr lang="zh-CN" altLang="en-US" sz="1400" dirty="0" smtClean="0"/>
              <a:t>、视频</a:t>
            </a:r>
            <a:r>
              <a:rPr lang="zh-CN" altLang="en-US" sz="1400" dirty="0"/>
              <a:t>数据混合高效</a:t>
            </a:r>
            <a:r>
              <a:rPr lang="zh-CN" altLang="en-US" sz="1400" dirty="0" smtClean="0"/>
              <a:t>传输</a:t>
            </a:r>
            <a:endParaRPr lang="en-US" altLang="zh-CN" sz="1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 smtClean="0"/>
              <a:t>支持</a:t>
            </a:r>
            <a:r>
              <a:rPr lang="zh-CN" altLang="en-US" sz="1400" dirty="0"/>
              <a:t>全双工</a:t>
            </a:r>
            <a:r>
              <a:rPr lang="en-US" altLang="zh-CN" sz="1400" dirty="0"/>
              <a:t>100M</a:t>
            </a:r>
            <a:r>
              <a:rPr lang="zh-CN" altLang="en-US" sz="1400" dirty="0"/>
              <a:t>带宽</a:t>
            </a:r>
            <a:r>
              <a:rPr lang="zh-CN" altLang="en-US" sz="1400" dirty="0" smtClean="0"/>
              <a:t>，物理层为</a:t>
            </a:r>
            <a:r>
              <a:rPr lang="en-US" altLang="zh-CN" sz="1400" dirty="0" smtClean="0"/>
              <a:t>100Base-T1</a:t>
            </a:r>
            <a:r>
              <a:rPr lang="zh-CN" altLang="en-US" sz="1400" dirty="0" smtClean="0"/>
              <a:t>，误码率低于</a:t>
            </a:r>
            <a:r>
              <a:rPr lang="en-US" altLang="zh-CN" sz="1400" dirty="0" smtClean="0"/>
              <a:t>10</a:t>
            </a:r>
            <a:r>
              <a:rPr lang="en-US" altLang="zh-CN" sz="1400" baseline="30000" dirty="0" smtClean="0"/>
              <a:t>-10</a:t>
            </a:r>
            <a:endParaRPr lang="en-US" altLang="zh-CN" sz="1400" baseline="30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1400" dirty="0"/>
              <a:t>节点间传输长度可达</a:t>
            </a:r>
            <a:r>
              <a:rPr lang="en-US" altLang="zh-CN" sz="1400" dirty="0"/>
              <a:t>100</a:t>
            </a:r>
            <a:r>
              <a:rPr lang="zh-CN" altLang="en-US" sz="1400" dirty="0"/>
              <a:t>米，环可支持多达</a:t>
            </a:r>
            <a:r>
              <a:rPr lang="en-US" altLang="zh-CN" sz="1400" dirty="0"/>
              <a:t>60</a:t>
            </a:r>
            <a:r>
              <a:rPr lang="zh-CN" altLang="en-US" sz="1400" dirty="0"/>
              <a:t>个子节点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支持通过远程控制子节点</a:t>
            </a:r>
            <a:r>
              <a:rPr lang="zh-CN" altLang="en-US" sz="1400" dirty="0" smtClean="0"/>
              <a:t>的丰富外设来替换</a:t>
            </a:r>
            <a:r>
              <a:rPr lang="en-US" altLang="zh-CN" sz="1400" dirty="0" smtClean="0"/>
              <a:t>ZCU/ECU</a:t>
            </a:r>
            <a:r>
              <a:rPr lang="zh-CN" altLang="en-US" sz="1400" dirty="0" smtClean="0"/>
              <a:t>的</a:t>
            </a:r>
            <a:r>
              <a:rPr lang="en-US" altLang="zh-CN" sz="1400" dirty="0" smtClean="0"/>
              <a:t>MCU</a:t>
            </a:r>
            <a:r>
              <a:rPr lang="zh-CN" altLang="en-US" sz="1400" dirty="0" smtClean="0"/>
              <a:t>，使得系统方案成本更低，且更好</a:t>
            </a:r>
            <a:r>
              <a:rPr lang="zh-CN" altLang="en-US" sz="1400" dirty="0"/>
              <a:t>的支持了</a:t>
            </a:r>
            <a:r>
              <a:rPr lang="en-US" altLang="zh-CN" sz="1400" dirty="0" smtClean="0"/>
              <a:t>SDV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 smtClean="0"/>
              <a:t>支持</a:t>
            </a:r>
            <a:r>
              <a:rPr lang="en-US" altLang="zh-CN" sz="1400" dirty="0" smtClean="0"/>
              <a:t>ADC</a:t>
            </a:r>
            <a:r>
              <a:rPr lang="zh-CN" altLang="en-US" sz="1400" dirty="0" smtClean="0"/>
              <a:t>采集</a:t>
            </a:r>
            <a:r>
              <a:rPr lang="en-US" altLang="zh-CN" sz="1400" dirty="0" smtClean="0"/>
              <a:t>/PWM</a:t>
            </a:r>
            <a:r>
              <a:rPr lang="zh-CN" altLang="en-US" sz="1400" dirty="0" smtClean="0"/>
              <a:t>触发采样</a:t>
            </a:r>
            <a:r>
              <a:rPr lang="en-US" altLang="zh-CN" sz="1400" dirty="0" smtClean="0"/>
              <a:t>/Hall</a:t>
            </a:r>
            <a:r>
              <a:rPr lang="zh-CN" altLang="en-US" sz="1400" dirty="0" smtClean="0"/>
              <a:t>检测</a:t>
            </a:r>
            <a:r>
              <a:rPr lang="en-US" altLang="zh-CN" sz="1400" dirty="0" smtClean="0"/>
              <a:t>/CAN&amp;LIN&amp;</a:t>
            </a:r>
            <a:r>
              <a:rPr lang="zh-CN" altLang="en-US" sz="1400" dirty="0" smtClean="0"/>
              <a:t>以太网互转等应用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支持环和菊花链组网，每个节点交换时延约</a:t>
            </a:r>
            <a:r>
              <a:rPr lang="en-US" altLang="zh-CN" sz="1400" dirty="0"/>
              <a:t>1.4us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支持节点互传、物理层错误重传、按优先级处理、丰富的流控策略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支持环故障后自动快速切换为菊花链，菊花链故障恢复后自动切换为环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支持所有节点发起</a:t>
            </a:r>
            <a:r>
              <a:rPr lang="zh-CN" altLang="en-US" sz="1400" dirty="0" smtClean="0"/>
              <a:t>的唤醒和记录，包括</a:t>
            </a:r>
            <a:r>
              <a:rPr lang="en-US" altLang="zh-CN" sz="1400" dirty="0" smtClean="0"/>
              <a:t>GPIO/ADC/CAN/LIN/</a:t>
            </a:r>
            <a:r>
              <a:rPr lang="zh-CN" altLang="en-US" sz="1400" dirty="0" smtClean="0"/>
              <a:t>网线唤醒源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 smtClean="0"/>
              <a:t>支持实时音视频</a:t>
            </a:r>
            <a:endParaRPr lang="en-US" altLang="zh-CN" sz="2000" b="1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 smtClean="0"/>
              <a:t>支持音频采样率</a:t>
            </a:r>
            <a:r>
              <a:rPr lang="zh-CN" altLang="en-US" sz="1400" dirty="0"/>
              <a:t>配置为</a:t>
            </a:r>
            <a:r>
              <a:rPr lang="en-US" altLang="zh-CN" sz="1400" dirty="0"/>
              <a:t>12K/24K/48K/96K/192K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 smtClean="0"/>
              <a:t>支持音频数据</a:t>
            </a:r>
            <a:r>
              <a:rPr lang="zh-CN" altLang="en-US" sz="1400" dirty="0"/>
              <a:t>精度配置为</a:t>
            </a:r>
            <a:r>
              <a:rPr lang="en-US" altLang="zh-CN" sz="1400" dirty="0"/>
              <a:t>16bit/20bit/24bit/32bit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/>
              <a:t>支持上</a:t>
            </a:r>
            <a:r>
              <a:rPr lang="zh-CN" altLang="en-US" sz="1400" dirty="0" smtClean="0"/>
              <a:t>下行音频通道</a:t>
            </a:r>
            <a:r>
              <a:rPr lang="zh-CN" altLang="en-US" sz="1400" dirty="0"/>
              <a:t>单独配置，都可配置为</a:t>
            </a:r>
            <a:r>
              <a:rPr lang="en-US" altLang="zh-CN" sz="1400" dirty="0"/>
              <a:t>0~32</a:t>
            </a:r>
            <a:r>
              <a:rPr lang="zh-CN" altLang="en-US" sz="1400" dirty="0" smtClean="0"/>
              <a:t>通道</a:t>
            </a:r>
            <a:endParaRPr lang="en-US" altLang="zh-CN" sz="1400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 smtClean="0"/>
              <a:t>支持实时视频传输</a:t>
            </a:r>
            <a:r>
              <a:rPr lang="en-US" altLang="zh-CN" sz="1400" dirty="0" smtClean="0"/>
              <a:t>(</a:t>
            </a:r>
            <a:r>
              <a:rPr lang="zh-CN" altLang="en-US" sz="1400" dirty="0" smtClean="0"/>
              <a:t>仅</a:t>
            </a:r>
            <a:r>
              <a:rPr lang="en-US" altLang="zh-CN" sz="1400" dirty="0" smtClean="0"/>
              <a:t>2.5G/5G/10G</a:t>
            </a:r>
            <a:r>
              <a:rPr lang="zh-CN" altLang="en-US" sz="1400" dirty="0" smtClean="0"/>
              <a:t>支持</a:t>
            </a:r>
            <a:r>
              <a:rPr lang="en-US" altLang="zh-CN" sz="1400" dirty="0" smtClean="0"/>
              <a:t>)</a:t>
            </a:r>
            <a:endParaRPr lang="en-US" altLang="zh-CN" sz="1400" dirty="0"/>
          </a:p>
        </p:txBody>
      </p:sp>
      <p:sp>
        <p:nvSpPr>
          <p:cNvPr id="12" name="文本框 11"/>
          <p:cNvSpPr txBox="1"/>
          <p:nvPr/>
        </p:nvSpPr>
        <p:spPr>
          <a:xfrm>
            <a:off x="6548277" y="3520791"/>
            <a:ext cx="1252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b="1" dirty="0"/>
              <a:t>环形组网</a:t>
            </a:r>
            <a:endParaRPr lang="en-US" altLang="zh-CN" sz="1200" b="1" dirty="0"/>
          </a:p>
          <a:p>
            <a:pPr algn="ctr"/>
            <a:r>
              <a:rPr lang="en-US" altLang="zh-CN" sz="1200" b="1" dirty="0"/>
              <a:t>(</a:t>
            </a:r>
            <a:r>
              <a:rPr lang="zh-CN" altLang="en-US" sz="1200" b="1" dirty="0"/>
              <a:t>支持双向传输</a:t>
            </a:r>
            <a:r>
              <a:rPr lang="en-US" altLang="zh-CN" sz="1200" b="1" dirty="0"/>
              <a:t>) </a:t>
            </a:r>
            <a:endParaRPr lang="zh-CN" altLang="en-US" sz="12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8633787" y="3520791"/>
            <a:ext cx="2959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 err="1" smtClean="0"/>
              <a:t>MCUless</a:t>
            </a:r>
            <a:r>
              <a:rPr lang="zh-CN" altLang="en-US" sz="1200" b="1" dirty="0" smtClean="0"/>
              <a:t>典型应用</a:t>
            </a:r>
            <a:endParaRPr lang="en-US" altLang="zh-CN" sz="1200" b="1" dirty="0" smtClean="0"/>
          </a:p>
          <a:p>
            <a:pPr algn="ctr"/>
            <a:r>
              <a:rPr lang="en-US" altLang="zh-CN" sz="1200" b="1" dirty="0" smtClean="0"/>
              <a:t>(</a:t>
            </a:r>
            <a:r>
              <a:rPr lang="zh-CN" altLang="en-US" sz="1200" b="1" dirty="0" smtClean="0"/>
              <a:t>替代</a:t>
            </a:r>
            <a:r>
              <a:rPr lang="en-US" altLang="zh-CN" sz="1200" b="1" dirty="0" smtClean="0"/>
              <a:t>ZCU/ECU</a:t>
            </a:r>
            <a:r>
              <a:rPr lang="zh-CN" altLang="en-US" sz="1200" b="1" dirty="0" smtClean="0"/>
              <a:t>的</a:t>
            </a:r>
            <a:r>
              <a:rPr lang="en-US" altLang="zh-CN" sz="1200" b="1" dirty="0" smtClean="0"/>
              <a:t>MCU</a:t>
            </a:r>
            <a:r>
              <a:rPr lang="zh-CN" altLang="en-US" sz="1200" b="1" dirty="0" smtClean="0"/>
              <a:t>， 软件集中化</a:t>
            </a:r>
            <a:r>
              <a:rPr lang="en-US" altLang="zh-CN" sz="1200" b="1" dirty="0" smtClean="0"/>
              <a:t>) </a:t>
            </a:r>
            <a:endParaRPr lang="zh-CN" altLang="en-US" sz="12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257" y="3982455"/>
            <a:ext cx="3432028" cy="26225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012" y="3982454"/>
            <a:ext cx="2028507" cy="26225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012" y="903192"/>
            <a:ext cx="5582273" cy="217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59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应用场景对比示意总览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84220"/>
              </p:ext>
            </p:extLst>
          </p:nvPr>
        </p:nvGraphicFramePr>
        <p:xfrm>
          <a:off x="178969" y="5152551"/>
          <a:ext cx="1188597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2986">
                  <a:extLst>
                    <a:ext uri="{9D8B030D-6E8A-4147-A177-3AD203B41FA5}">
                      <a16:colId xmlns:a16="http://schemas.microsoft.com/office/drawing/2014/main" val="3093747122"/>
                    </a:ext>
                  </a:extLst>
                </a:gridCol>
                <a:gridCol w="5942986">
                  <a:extLst>
                    <a:ext uri="{9D8B030D-6E8A-4147-A177-3AD203B41FA5}">
                      <a16:colId xmlns:a16="http://schemas.microsoft.com/office/drawing/2014/main" val="996031783"/>
                    </a:ext>
                  </a:extLst>
                </a:gridCol>
              </a:tblGrid>
              <a:tr h="11690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当前方案存在的改进点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解决方案核心优势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217794"/>
                  </a:ext>
                </a:extLst>
              </a:tr>
              <a:tr h="116905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都需要一个高算力的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之间协同需要依赖交换机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所有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都需要一个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，成本高，维护困难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集中式功放音频线束太长，对于多音响的系统来说重量重，成本高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集中式功放音质较难满足铂金和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HIFI</a:t>
                      </a:r>
                      <a:r>
                        <a:rPr lang="zh-CN" altLang="en-US" sz="14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音响</a:t>
                      </a:r>
                      <a:r>
                        <a:rPr lang="zh-CN" altLang="en-US" sz="14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要求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最多只保留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，其它原有的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用远程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芯片代替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BOM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和维护成本都更低，软件集中化，算力共享，更好协同，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网段减少，硬件升级扩展更容易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音频和控制数据合一，低时延，高可靠，是最佳解决方案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93123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0" y="868097"/>
            <a:ext cx="5909655" cy="41554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5" y="868097"/>
            <a:ext cx="5683885" cy="410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3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应用场景</a:t>
            </a:r>
            <a:r>
              <a:rPr lang="en-US" altLang="zh-CN" dirty="0" smtClean="0"/>
              <a:t>ZCU</a:t>
            </a:r>
            <a:r>
              <a:rPr lang="zh-CN" altLang="en-US" dirty="0" smtClean="0"/>
              <a:t>的功能</a:t>
            </a:r>
            <a:r>
              <a:rPr lang="en-US" altLang="zh-CN" dirty="0" smtClean="0"/>
              <a:t>IO</a:t>
            </a:r>
            <a:r>
              <a:rPr lang="zh-CN" altLang="en-US" dirty="0" smtClean="0"/>
              <a:t>分布</a:t>
            </a:r>
            <a:r>
              <a:rPr lang="zh-CN" altLang="en-US" dirty="0"/>
              <a:t>示例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37823"/>
              </p:ext>
            </p:extLst>
          </p:nvPr>
        </p:nvGraphicFramePr>
        <p:xfrm>
          <a:off x="171349" y="4850349"/>
          <a:ext cx="11885972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1331">
                  <a:extLst>
                    <a:ext uri="{9D8B030D-6E8A-4147-A177-3AD203B41FA5}">
                      <a16:colId xmlns:a16="http://schemas.microsoft.com/office/drawing/2014/main" val="3093747122"/>
                    </a:ext>
                  </a:extLst>
                </a:gridCol>
                <a:gridCol w="5854641">
                  <a:extLst>
                    <a:ext uri="{9D8B030D-6E8A-4147-A177-3AD203B41FA5}">
                      <a16:colId xmlns:a16="http://schemas.microsoft.com/office/drawing/2014/main" val="996031783"/>
                    </a:ext>
                  </a:extLst>
                </a:gridCol>
              </a:tblGrid>
              <a:tr h="11690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当前方案存在的改进点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解决方案核心优势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217794"/>
                  </a:ext>
                </a:extLst>
              </a:tr>
              <a:tr h="116905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上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选型困难，需要兼顾算力和功能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由于每个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上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 IO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资源有限，外围需要多个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扩展芯片，导致成本高，面积大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目前绝大部分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都是可以通过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扩展芯片进行本地或远程扩展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选型只需关心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算力，不再关心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资源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数据采集和预处理由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GPAN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芯片完成，降低了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算力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GPAN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可以作为低成本的本地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扩展芯片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GPAN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可以作为低延迟高可靠的远程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扩展芯片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93123"/>
                  </a:ext>
                </a:extLst>
              </a:tr>
            </a:tbl>
          </a:graphicData>
        </a:graphic>
      </p:graphicFrame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1547824993"/>
              </p:ext>
            </p:extLst>
          </p:nvPr>
        </p:nvGraphicFramePr>
        <p:xfrm>
          <a:off x="233680" y="955886"/>
          <a:ext cx="3987800" cy="3707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图表 8"/>
          <p:cNvGraphicFramePr/>
          <p:nvPr>
            <p:extLst>
              <p:ext uri="{D42A27DB-BD31-4B8C-83A1-F6EECF244321}">
                <p14:modId xmlns:p14="http://schemas.microsoft.com/office/powerpoint/2010/main" val="376452205"/>
              </p:ext>
            </p:extLst>
          </p:nvPr>
        </p:nvGraphicFramePr>
        <p:xfrm>
          <a:off x="4485640" y="959272"/>
          <a:ext cx="3987800" cy="3707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503323"/>
              </p:ext>
            </p:extLst>
          </p:nvPr>
        </p:nvGraphicFramePr>
        <p:xfrm>
          <a:off x="8737600" y="838200"/>
          <a:ext cx="3319721" cy="3876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19721">
                  <a:extLst>
                    <a:ext uri="{9D8B030D-6E8A-4147-A177-3AD203B41FA5}">
                      <a16:colId xmlns:a16="http://schemas.microsoft.com/office/drawing/2014/main" val="3582914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MCULess</a:t>
                      </a:r>
                      <a:r>
                        <a:rPr lang="zh-CN" altLang="en-US" dirty="0" smtClean="0"/>
                        <a:t>应用分析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198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应用场景：</a:t>
                      </a:r>
                      <a:endParaRPr lang="en-US" altLang="zh-CN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除霜、座椅按摩通⻛、座椅靠背、坐垫加热、各种氛围灯、</a:t>
                      </a:r>
                      <a:r>
                        <a:rPr lang="zh-CN" altLang="en-US" sz="1600" dirty="0" smtClean="0"/>
                        <a:t/>
                      </a:r>
                      <a:br>
                        <a:rPr lang="zh-CN" altLang="en-US" sz="1600" dirty="0" smtClean="0"/>
                      </a:b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雷达配电、后⿎⻛机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增压⻛机</a:t>
                      </a:r>
                      <a:r>
                        <a:rPr lang="zh-CN" altLang="en-US" sz="1600" dirty="0" smtClean="0"/>
                        <a:t> </a:t>
                      </a:r>
                      <a:br>
                        <a:rPr lang="zh-CN" altLang="en-US" sz="1600" dirty="0" smtClean="0"/>
                      </a:b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遮阳帘、空⽓加热、雾灯、</a:t>
                      </a:r>
                      <a:r>
                        <a:rPr lang="zh-CN" altLang="en-US" sz="1600" dirty="0" smtClean="0"/>
                        <a:t/>
                      </a:r>
                      <a:br>
                        <a:rPr lang="zh-CN" altLang="en-US" sz="1600" dirty="0" smtClean="0"/>
                      </a:b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悬架开关，等等</a:t>
                      </a:r>
                      <a:endParaRPr lang="en-US" altLang="zh-CN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控制类型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高低驱、桥驱、</a:t>
                      </a:r>
                      <a:r>
                        <a:rPr lang="en-US" altLang="zh-CN" sz="1600" dirty="0" smtClean="0"/>
                        <a:t>EFUSE</a:t>
                      </a:r>
                      <a:r>
                        <a:rPr lang="zh-CN" altLang="en-US" sz="1600" dirty="0" smtClean="0"/>
                        <a:t>、传感器、步进电机、</a:t>
                      </a:r>
                      <a:r>
                        <a:rPr lang="en-US" altLang="zh-CN" sz="1600" dirty="0" smtClean="0"/>
                        <a:t>HALL</a:t>
                      </a:r>
                      <a:r>
                        <a:rPr lang="zh-CN" altLang="en-US" sz="1600" dirty="0" smtClean="0"/>
                        <a:t>采集、分布式功放等</a:t>
                      </a: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带宽时延分析：</a:t>
                      </a:r>
                      <a:endParaRPr lang="en-US" altLang="zh-CN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600" dirty="0" smtClean="0"/>
                        <a:t>音源</a:t>
                      </a:r>
                      <a:r>
                        <a:rPr lang="en-US" altLang="zh-CN" sz="1600" dirty="0" smtClean="0"/>
                        <a:t>&lt;50M</a:t>
                      </a:r>
                      <a:r>
                        <a:rPr lang="zh-CN" altLang="en-US" sz="1600" dirty="0" smtClean="0"/>
                        <a:t>，车身控制</a:t>
                      </a:r>
                      <a:r>
                        <a:rPr lang="en-US" altLang="zh-CN" sz="1600" dirty="0" smtClean="0"/>
                        <a:t>&lt;40M</a:t>
                      </a:r>
                      <a:r>
                        <a:rPr lang="zh-CN" altLang="en-US" sz="1600" dirty="0" smtClean="0"/>
                        <a:t>，</a:t>
                      </a:r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物理带宽</a:t>
                      </a:r>
                      <a:r>
                        <a:rPr lang="en-US" altLang="zh-CN" sz="1600" dirty="0" smtClean="0"/>
                        <a:t>200M</a:t>
                      </a:r>
                      <a:r>
                        <a:rPr lang="zh-CN" altLang="en-US" sz="1600" dirty="0" smtClean="0"/>
                        <a:t>，时延单向小于</a:t>
                      </a:r>
                      <a:r>
                        <a:rPr lang="en-US" altLang="zh-CN" sz="1600" dirty="0" smtClean="0"/>
                        <a:t>50us</a:t>
                      </a:r>
                      <a:r>
                        <a:rPr lang="zh-CN" altLang="en-US" sz="1600" dirty="0" smtClean="0"/>
                        <a:t>，支持数据预取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162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42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应用场景方案对比示意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传统方案和</a:t>
            </a:r>
            <a:r>
              <a:rPr lang="en-US" altLang="zh-CN" dirty="0" err="1" smtClean="0"/>
              <a:t>MCULess</a:t>
            </a:r>
            <a:r>
              <a:rPr lang="zh-CN" altLang="en-US" dirty="0" smtClean="0"/>
              <a:t>方案比对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055235"/>
              </p:ext>
            </p:extLst>
          </p:nvPr>
        </p:nvGraphicFramePr>
        <p:xfrm>
          <a:off x="279400" y="1706799"/>
          <a:ext cx="11539220" cy="41233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978231903"/>
                    </a:ext>
                  </a:extLst>
                </a:gridCol>
                <a:gridCol w="3192780">
                  <a:extLst>
                    <a:ext uri="{9D8B030D-6E8A-4147-A177-3AD203B41FA5}">
                      <a16:colId xmlns:a16="http://schemas.microsoft.com/office/drawing/2014/main" val="491094133"/>
                    </a:ext>
                  </a:extLst>
                </a:gridCol>
                <a:gridCol w="3070860">
                  <a:extLst>
                    <a:ext uri="{9D8B030D-6E8A-4147-A177-3AD203B41FA5}">
                      <a16:colId xmlns:a16="http://schemas.microsoft.com/office/drawing/2014/main" val="4131927496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465791290"/>
                    </a:ext>
                  </a:extLst>
                </a:gridCol>
              </a:tblGrid>
              <a:tr h="30921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对比项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传统方案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GPAN </a:t>
                      </a:r>
                      <a:r>
                        <a:rPr lang="en-US" altLang="zh-CN" dirty="0" err="1" smtClean="0"/>
                        <a:t>MCULess</a:t>
                      </a:r>
                      <a:r>
                        <a:rPr lang="zh-CN" altLang="en-US" dirty="0" smtClean="0"/>
                        <a:t>方案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收益说明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819763"/>
                  </a:ext>
                </a:extLst>
              </a:tr>
              <a:tr h="343829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算力成本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高，算力资源无法共享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低，算力资源共享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可减少</a:t>
                      </a:r>
                      <a:r>
                        <a:rPr lang="en-US" altLang="zh-CN" sz="1600" dirty="0" smtClean="0"/>
                        <a:t>ZCU</a:t>
                      </a:r>
                      <a:r>
                        <a:rPr lang="zh-CN" altLang="en-US" sz="1600" dirty="0" smtClean="0"/>
                        <a:t>的综合</a:t>
                      </a:r>
                      <a:r>
                        <a:rPr lang="en-US" altLang="zh-CN" sz="1600" dirty="0" smtClean="0"/>
                        <a:t>MCU</a:t>
                      </a:r>
                      <a:r>
                        <a:rPr lang="zh-CN" altLang="en-US" sz="1600" dirty="0" smtClean="0"/>
                        <a:t>算力需求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178108"/>
                  </a:ext>
                </a:extLst>
              </a:tr>
              <a:tr h="30921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协同控制成本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高，需要通过网关协同控制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低，处理集中后天然协同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可减少</a:t>
                      </a:r>
                      <a:r>
                        <a:rPr lang="en-US" altLang="zh-CN" sz="1600" dirty="0" smtClean="0"/>
                        <a:t>ZCU</a:t>
                      </a:r>
                      <a:r>
                        <a:rPr lang="zh-CN" altLang="en-US" sz="1600" dirty="0" smtClean="0"/>
                        <a:t>的综合</a:t>
                      </a:r>
                      <a:r>
                        <a:rPr lang="en-US" altLang="zh-CN" sz="1600" dirty="0" smtClean="0"/>
                        <a:t>MCU</a:t>
                      </a:r>
                      <a:r>
                        <a:rPr lang="zh-CN" altLang="en-US" sz="1600" dirty="0" smtClean="0"/>
                        <a:t>算力需求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286683"/>
                  </a:ext>
                </a:extLst>
              </a:tr>
              <a:tr h="541127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协议互转成本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</a:t>
                      </a:r>
                      <a:r>
                        <a:rPr lang="en-US" altLang="zh-CN" sz="1600" dirty="0" smtClean="0"/>
                        <a:t>CAN</a:t>
                      </a:r>
                      <a:r>
                        <a:rPr lang="zh-CN" altLang="en-US" sz="1600" dirty="0" smtClean="0"/>
                        <a:t>网段多，</a:t>
                      </a:r>
                      <a:r>
                        <a:rPr lang="en-US" altLang="zh-CN" sz="1600" dirty="0" smtClean="0"/>
                        <a:t>CAN/LIN/</a:t>
                      </a:r>
                      <a:r>
                        <a:rPr lang="zh-CN" altLang="en-US" sz="1600" dirty="0" smtClean="0"/>
                        <a:t>以太网互转开销大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低，网段合并，</a:t>
                      </a:r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芯片支持</a:t>
                      </a:r>
                      <a:r>
                        <a:rPr lang="en-US" altLang="zh-CN" sz="1600" dirty="0" smtClean="0"/>
                        <a:t>CAN/LIN/</a:t>
                      </a:r>
                      <a:r>
                        <a:rPr lang="zh-CN" altLang="en-US" sz="1600" dirty="0" smtClean="0"/>
                        <a:t>以太网互转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可减少</a:t>
                      </a:r>
                      <a:r>
                        <a:rPr lang="en-US" altLang="zh-CN" sz="1600" dirty="0" smtClean="0"/>
                        <a:t>ZCU</a:t>
                      </a:r>
                      <a:r>
                        <a:rPr lang="zh-CN" altLang="en-US" sz="1600" dirty="0" smtClean="0"/>
                        <a:t>的综合</a:t>
                      </a:r>
                      <a:r>
                        <a:rPr lang="en-US" altLang="zh-CN" sz="1600" dirty="0" smtClean="0"/>
                        <a:t>MCU</a:t>
                      </a:r>
                      <a:r>
                        <a:rPr lang="zh-CN" altLang="en-US" sz="1600" dirty="0" smtClean="0"/>
                        <a:t>算力需求</a:t>
                      </a:r>
                    </a:p>
                    <a:p>
                      <a:r>
                        <a:rPr lang="zh-CN" altLang="en-US" sz="1600" dirty="0" smtClean="0"/>
                        <a:t>网段合并可减少</a:t>
                      </a:r>
                      <a:r>
                        <a:rPr lang="en-US" altLang="zh-CN" sz="1600" dirty="0" smtClean="0"/>
                        <a:t>CAN</a:t>
                      </a:r>
                      <a:r>
                        <a:rPr lang="zh-CN" altLang="en-US" sz="1600" dirty="0" smtClean="0"/>
                        <a:t>的端口数量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183579"/>
                  </a:ext>
                </a:extLst>
              </a:tr>
              <a:tr h="30921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软件开发成本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高，需要开发众多</a:t>
                      </a:r>
                      <a:r>
                        <a:rPr lang="en-US" altLang="zh-CN" sz="1600" dirty="0" smtClean="0"/>
                        <a:t>MCU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</a:t>
                      </a:r>
                      <a:r>
                        <a:rPr lang="en-US" altLang="zh-CN" sz="1600" dirty="0" smtClean="0"/>
                        <a:t>MCU</a:t>
                      </a:r>
                      <a:r>
                        <a:rPr lang="zh-CN" altLang="en-US" sz="1600" dirty="0" smtClean="0"/>
                        <a:t>数量可大幅减少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减少了软件开发成本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730804"/>
                  </a:ext>
                </a:extLst>
              </a:tr>
              <a:tr h="30921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软件维护成本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高，需要维护众多</a:t>
                      </a:r>
                      <a:r>
                        <a:rPr lang="en-US" altLang="zh-CN" sz="1600" dirty="0" smtClean="0"/>
                        <a:t>MCU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低，</a:t>
                      </a:r>
                      <a:r>
                        <a:rPr lang="en-US" altLang="zh-CN" sz="1600" dirty="0" err="1" smtClean="0"/>
                        <a:t>MCULess</a:t>
                      </a:r>
                      <a:r>
                        <a:rPr lang="zh-CN" altLang="en-US" sz="1600" dirty="0" smtClean="0"/>
                        <a:t>节点无需维护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减少了软件维护成本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011070"/>
                  </a:ext>
                </a:extLst>
              </a:tr>
              <a:tr h="30921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硬件</a:t>
                      </a:r>
                      <a:r>
                        <a:rPr lang="en-US" altLang="zh-CN" sz="1600" dirty="0" smtClean="0"/>
                        <a:t>BOM</a:t>
                      </a:r>
                      <a:r>
                        <a:rPr lang="zh-CN" altLang="en-US" sz="1600" dirty="0" smtClean="0"/>
                        <a:t>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高，需要</a:t>
                      </a:r>
                      <a:r>
                        <a:rPr lang="en-US" altLang="zh-CN" sz="1600" dirty="0" smtClean="0"/>
                        <a:t>MCU+</a:t>
                      </a:r>
                      <a:r>
                        <a:rPr lang="zh-CN" altLang="en-US" sz="1600" dirty="0" smtClean="0"/>
                        <a:t>众多</a:t>
                      </a:r>
                      <a:r>
                        <a:rPr lang="en-US" altLang="zh-CN" sz="1600" dirty="0" smtClean="0"/>
                        <a:t>IO</a:t>
                      </a:r>
                      <a:r>
                        <a:rPr lang="zh-CN" altLang="en-US" sz="1600" dirty="0" smtClean="0"/>
                        <a:t>扩展芯片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低，无需众多</a:t>
                      </a:r>
                      <a:r>
                        <a:rPr lang="en-US" altLang="zh-CN" sz="1600" dirty="0" smtClean="0"/>
                        <a:t>IO</a:t>
                      </a:r>
                      <a:r>
                        <a:rPr lang="zh-CN" altLang="en-US" sz="1600" dirty="0" smtClean="0"/>
                        <a:t>扩展芯片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减少了</a:t>
                      </a:r>
                      <a:r>
                        <a:rPr lang="en-US" altLang="zh-CN" sz="1600" dirty="0" smtClean="0"/>
                        <a:t>BOM</a:t>
                      </a:r>
                      <a:r>
                        <a:rPr lang="zh-CN" altLang="en-US" sz="1600" dirty="0" smtClean="0"/>
                        <a:t>个数和成本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469447"/>
                  </a:ext>
                </a:extLst>
              </a:tr>
              <a:tr h="309215"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PCB</a:t>
                      </a:r>
                      <a:r>
                        <a:rPr lang="zh-CN" altLang="en-US" sz="1600" dirty="0" smtClean="0"/>
                        <a:t>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高，需要</a:t>
                      </a:r>
                      <a:r>
                        <a:rPr lang="en-US" altLang="zh-CN" sz="1600" dirty="0" smtClean="0"/>
                        <a:t>MCU+</a:t>
                      </a:r>
                      <a:r>
                        <a:rPr lang="zh-CN" altLang="en-US" sz="1600" dirty="0" smtClean="0"/>
                        <a:t>众多</a:t>
                      </a:r>
                      <a:r>
                        <a:rPr lang="en-US" altLang="zh-CN" sz="1600" dirty="0" smtClean="0"/>
                        <a:t>IO</a:t>
                      </a:r>
                      <a:r>
                        <a:rPr lang="zh-CN" altLang="en-US" sz="1600" dirty="0" smtClean="0"/>
                        <a:t>扩展芯片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低，少了较多小扩展芯片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减少了</a:t>
                      </a:r>
                      <a:r>
                        <a:rPr lang="en-US" altLang="zh-CN" sz="1600" dirty="0" smtClean="0"/>
                        <a:t>PCB</a:t>
                      </a:r>
                      <a:r>
                        <a:rPr lang="zh-CN" altLang="en-US" sz="1600" dirty="0" smtClean="0"/>
                        <a:t>面积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299572"/>
                  </a:ext>
                </a:extLst>
              </a:tr>
              <a:tr h="541127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音频支持成本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</a:t>
                      </a:r>
                      <a:r>
                        <a:rPr lang="en-US" altLang="zh-CN" sz="1600" dirty="0" smtClean="0"/>
                        <a:t>A2B</a:t>
                      </a:r>
                      <a:r>
                        <a:rPr lang="zh-CN" altLang="en-US" sz="1600" dirty="0" smtClean="0"/>
                        <a:t>贵且走线多，以太网</a:t>
                      </a:r>
                      <a:r>
                        <a:rPr lang="en-US" altLang="zh-CN" sz="1600" dirty="0" smtClean="0"/>
                        <a:t>TSN</a:t>
                      </a:r>
                      <a:r>
                        <a:rPr lang="zh-CN" altLang="en-US" sz="1600" dirty="0" smtClean="0"/>
                        <a:t>音频会抬升系统成本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低，控制数据和音频天然融合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为分布式功放最佳方案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49729"/>
                  </a:ext>
                </a:extLst>
              </a:tr>
              <a:tr h="415617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综合成本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显性成本</a:t>
                      </a:r>
                      <a:r>
                        <a:rPr lang="en-US" altLang="zh-CN" sz="1600" dirty="0" smtClean="0"/>
                        <a:t>(BOM):</a:t>
                      </a:r>
                      <a:r>
                        <a:rPr lang="zh-CN" altLang="en-US" sz="1600" dirty="0" smtClean="0"/>
                        <a:t>高</a:t>
                      </a:r>
                      <a:endParaRPr lang="en-US" altLang="zh-CN" sz="1600" dirty="0" smtClean="0"/>
                    </a:p>
                    <a:p>
                      <a:r>
                        <a:rPr lang="zh-CN" altLang="en-US" sz="1600" dirty="0" smtClean="0"/>
                        <a:t>隐性成本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开发维护</a:t>
                      </a:r>
                      <a:r>
                        <a:rPr lang="en-US" altLang="zh-CN" sz="1600" dirty="0" smtClean="0"/>
                        <a:t>):</a:t>
                      </a:r>
                      <a:r>
                        <a:rPr lang="zh-CN" altLang="en-US" sz="1600" dirty="0" smtClean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显性成本</a:t>
                      </a:r>
                      <a:r>
                        <a:rPr lang="en-US" altLang="zh-CN" sz="1600" dirty="0" smtClean="0"/>
                        <a:t>:</a:t>
                      </a:r>
                      <a:r>
                        <a:rPr lang="zh-CN" altLang="en-US" sz="1600" dirty="0" smtClean="0"/>
                        <a:t>低</a:t>
                      </a:r>
                      <a:endParaRPr lang="en-US" altLang="zh-CN" sz="1600" dirty="0" smtClean="0"/>
                    </a:p>
                    <a:p>
                      <a:r>
                        <a:rPr lang="zh-CN" altLang="en-US" sz="1600" dirty="0" smtClean="0"/>
                        <a:t>隐性成本</a:t>
                      </a:r>
                      <a:r>
                        <a:rPr lang="en-US" altLang="zh-CN" sz="1600" dirty="0" smtClean="0"/>
                        <a:t>:</a:t>
                      </a:r>
                      <a:r>
                        <a:rPr lang="zh-CN" altLang="en-US" sz="1600" dirty="0" smtClean="0"/>
                        <a:t>低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可根据客户要求细化收益数据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764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9400" y="654676"/>
            <a:ext cx="1153922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 smtClean="0"/>
              <a:t>MCULess</a:t>
            </a:r>
            <a:r>
              <a:rPr lang="zh-CN" altLang="en-US" dirty="0" smtClean="0"/>
              <a:t>：是未来</a:t>
            </a:r>
            <a:r>
              <a:rPr lang="en-US" altLang="zh-CN" dirty="0" smtClean="0"/>
              <a:t>SDV</a:t>
            </a:r>
            <a:r>
              <a:rPr lang="zh-CN" altLang="en-US" dirty="0" smtClean="0"/>
              <a:t>的核心技术点，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提供了最先进的低时延、高可靠的</a:t>
            </a:r>
            <a:r>
              <a:rPr lang="en-US" altLang="zh-CN" dirty="0" err="1" smtClean="0"/>
              <a:t>MCULess</a:t>
            </a:r>
            <a:r>
              <a:rPr lang="zh-CN" altLang="en-US" dirty="0" smtClean="0"/>
              <a:t>方案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分布式功放</a:t>
            </a:r>
            <a:r>
              <a:rPr lang="zh-CN" altLang="en-US" dirty="0" smtClean="0"/>
              <a:t>：相比</a:t>
            </a:r>
            <a:r>
              <a:rPr lang="en-US" altLang="zh-CN" dirty="0" smtClean="0"/>
              <a:t>A2B</a:t>
            </a:r>
            <a:r>
              <a:rPr lang="zh-CN" altLang="en-US" dirty="0" smtClean="0"/>
              <a:t>和以太网音频，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分布式功放为最优方案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 smtClean="0"/>
              <a:t>MCULess</a:t>
            </a:r>
            <a:r>
              <a:rPr lang="en-US" altLang="zh-CN" b="1" dirty="0" smtClean="0"/>
              <a:t>+</a:t>
            </a:r>
            <a:r>
              <a:rPr lang="zh-CN" altLang="en-US" b="1" dirty="0" smtClean="0"/>
              <a:t>分布式功放</a:t>
            </a:r>
            <a:r>
              <a:rPr lang="zh-CN" altLang="en-US" dirty="0" smtClean="0"/>
              <a:t>：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提供了最佳终极解决方案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327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应用场景方案对比示意 </a:t>
            </a:r>
            <a:r>
              <a:rPr lang="en-US" altLang="zh-CN" dirty="0" smtClean="0"/>
              <a:t>--- </a:t>
            </a:r>
            <a:r>
              <a:rPr lang="zh-CN" altLang="en-US" dirty="0"/>
              <a:t>现有</a:t>
            </a:r>
            <a:r>
              <a:rPr lang="en-US" altLang="zh-CN" dirty="0" err="1" smtClean="0"/>
              <a:t>MCULess</a:t>
            </a:r>
            <a:r>
              <a:rPr lang="zh-CN" altLang="en-US" dirty="0" smtClean="0"/>
              <a:t>方案对比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75856" y="616515"/>
            <a:ext cx="356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 smtClean="0"/>
              <a:t>MCULess</a:t>
            </a:r>
            <a:r>
              <a:rPr lang="zh-CN" altLang="en-US" b="1" dirty="0" smtClean="0"/>
              <a:t>应用参考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一</a:t>
            </a:r>
            <a:r>
              <a:rPr lang="en-US" altLang="zh-CN" b="1" dirty="0" smtClean="0"/>
              <a:t>)</a:t>
            </a:r>
            <a:endParaRPr lang="zh-CN" altLang="en-US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4975856" y="3403945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/>
              <a:t>MCULess</a:t>
            </a:r>
            <a:r>
              <a:rPr lang="zh-CN" altLang="en-US" b="1" dirty="0"/>
              <a:t>应用参考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二</a:t>
            </a:r>
            <a:r>
              <a:rPr lang="en-US" altLang="zh-CN" b="1" dirty="0" smtClean="0"/>
              <a:t>)</a:t>
            </a:r>
            <a:endParaRPr lang="zh-CN" altLang="en-US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901752"/>
              </p:ext>
            </p:extLst>
          </p:nvPr>
        </p:nvGraphicFramePr>
        <p:xfrm>
          <a:off x="5029197" y="1039125"/>
          <a:ext cx="684276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663">
                  <a:extLst>
                    <a:ext uri="{9D8B030D-6E8A-4147-A177-3AD203B41FA5}">
                      <a16:colId xmlns:a16="http://schemas.microsoft.com/office/drawing/2014/main" val="26836726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297431451"/>
                    </a:ext>
                  </a:extLst>
                </a:gridCol>
                <a:gridCol w="2446019">
                  <a:extLst>
                    <a:ext uri="{9D8B030D-6E8A-4147-A177-3AD203B41FA5}">
                      <a16:colId xmlns:a16="http://schemas.microsoft.com/office/drawing/2014/main" val="682947383"/>
                    </a:ext>
                  </a:extLst>
                </a:gridCol>
              </a:tblGrid>
              <a:tr h="23540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对比项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10Base-T1S </a:t>
                      </a:r>
                      <a:r>
                        <a:rPr lang="en-US" altLang="zh-CN" sz="1600" dirty="0" err="1" smtClean="0"/>
                        <a:t>MCULess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100Base-T1 GPAN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25196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内部处理时延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</a:t>
                      </a:r>
                      <a:r>
                        <a:rPr lang="en-US" altLang="zh-CN" sz="1400" dirty="0" smtClean="0"/>
                        <a:t>, </a:t>
                      </a:r>
                      <a:r>
                        <a:rPr lang="zh-CN" altLang="en-US" sz="1400" dirty="0" smtClean="0"/>
                        <a:t>＞</a:t>
                      </a:r>
                      <a:r>
                        <a:rPr lang="en-US" altLang="zh-CN" sz="1400" dirty="0" smtClean="0"/>
                        <a:t>290us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短，＜</a:t>
                      </a:r>
                      <a:r>
                        <a:rPr lang="en-US" altLang="zh-CN" sz="1400" dirty="0" smtClean="0"/>
                        <a:t>50us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13388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带宽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小，半双工</a:t>
                      </a:r>
                      <a:r>
                        <a:rPr lang="en-US" altLang="zh-CN" sz="1400" dirty="0" smtClean="0"/>
                        <a:t>10M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大，环模式全双工</a:t>
                      </a:r>
                      <a:r>
                        <a:rPr lang="en-US" altLang="zh-CN" sz="1400" dirty="0" smtClean="0"/>
                        <a:t>200M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904549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IO</a:t>
                      </a:r>
                      <a:r>
                        <a:rPr lang="zh-CN" altLang="en-US" sz="1400" dirty="0" smtClean="0"/>
                        <a:t>数量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少，受限于带宽和时延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大，得益于带宽和时延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77756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音频播放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困难，带宽小，时延大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容易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041613"/>
                  </a:ext>
                </a:extLst>
              </a:tr>
              <a:tr h="51360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应用场景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三级网络</a:t>
                      </a:r>
                      <a:endParaRPr lang="en-US" altLang="zh-CN" sz="1400" dirty="0" smtClean="0"/>
                    </a:p>
                    <a:p>
                      <a:r>
                        <a:rPr lang="en-US" altLang="zh-CN" sz="1400" dirty="0" smtClean="0"/>
                        <a:t>ECU</a:t>
                      </a:r>
                      <a:r>
                        <a:rPr lang="zh-CN" altLang="en-US" sz="1400" dirty="0" smtClean="0"/>
                        <a:t>控制，如灯光，座椅等带宽小，时延和带宽不敏感场景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二级网络和部分三级网络</a:t>
                      </a:r>
                      <a:endParaRPr lang="en-US" altLang="zh-CN" sz="1400" dirty="0" smtClean="0"/>
                    </a:p>
                    <a:p>
                      <a:r>
                        <a:rPr lang="zh-CN" altLang="en-US" sz="1400" dirty="0" smtClean="0"/>
                        <a:t>时延敏感场景，如防夹</a:t>
                      </a:r>
                      <a:endParaRPr lang="en-US" altLang="zh-CN" sz="1400" dirty="0" smtClean="0"/>
                    </a:p>
                    <a:p>
                      <a:r>
                        <a:rPr lang="zh-CN" altLang="en-US" sz="1400" dirty="0" smtClean="0"/>
                        <a:t>高带宽或音频场景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33526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04805"/>
              </p:ext>
            </p:extLst>
          </p:nvPr>
        </p:nvGraphicFramePr>
        <p:xfrm>
          <a:off x="5029197" y="3762914"/>
          <a:ext cx="684276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3">
                  <a:extLst>
                    <a:ext uri="{9D8B030D-6E8A-4147-A177-3AD203B41FA5}">
                      <a16:colId xmlns:a16="http://schemas.microsoft.com/office/drawing/2014/main" val="26836726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297431451"/>
                    </a:ext>
                  </a:extLst>
                </a:gridCol>
                <a:gridCol w="2430779">
                  <a:extLst>
                    <a:ext uri="{9D8B030D-6E8A-4147-A177-3AD203B41FA5}">
                      <a16:colId xmlns:a16="http://schemas.microsoft.com/office/drawing/2014/main" val="682947383"/>
                    </a:ext>
                  </a:extLst>
                </a:gridCol>
              </a:tblGrid>
              <a:tr h="25260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对比项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10Base-T1S </a:t>
                      </a:r>
                      <a:r>
                        <a:rPr lang="en-US" altLang="zh-CN" sz="1600" dirty="0" err="1" smtClean="0"/>
                        <a:t>MCULess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CAN-FD GPAN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25196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带宽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高，</a:t>
                      </a:r>
                      <a:r>
                        <a:rPr lang="en-US" altLang="zh-CN" sz="1400" dirty="0" smtClean="0"/>
                        <a:t>10Base-T1S(</a:t>
                      </a:r>
                      <a:r>
                        <a:rPr lang="zh-CN" altLang="en-US" sz="1400" dirty="0" smtClean="0"/>
                        <a:t>半双工</a:t>
                      </a:r>
                      <a:r>
                        <a:rPr lang="en-US" altLang="zh-CN" sz="1400" dirty="0" smtClean="0"/>
                        <a:t>10M)</a:t>
                      </a: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中，</a:t>
                      </a:r>
                      <a:r>
                        <a:rPr lang="en-US" altLang="zh-CN" sz="1400" dirty="0" smtClean="0"/>
                        <a:t>CAN-FD(</a:t>
                      </a:r>
                      <a:r>
                        <a:rPr lang="zh-CN" altLang="en-US" sz="1400" dirty="0" smtClean="0"/>
                        <a:t>半双工</a:t>
                      </a:r>
                      <a:r>
                        <a:rPr lang="en-US" altLang="zh-CN" sz="1400" dirty="0" smtClean="0"/>
                        <a:t>5M)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13388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生态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差，</a:t>
                      </a:r>
                      <a:r>
                        <a:rPr lang="en-US" altLang="zh-CN" sz="1400" dirty="0" smtClean="0"/>
                        <a:t>10Base-T1S</a:t>
                      </a:r>
                      <a:r>
                        <a:rPr lang="zh-CN" altLang="en-US" sz="1400" dirty="0" smtClean="0"/>
                        <a:t>网络国内暂未商用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好，</a:t>
                      </a:r>
                      <a:r>
                        <a:rPr lang="en-US" altLang="zh-CN" sz="1400" dirty="0" smtClean="0"/>
                        <a:t>CAN</a:t>
                      </a:r>
                      <a:r>
                        <a:rPr lang="zh-CN" altLang="en-US" sz="1400" dirty="0" smtClean="0"/>
                        <a:t>网络非常成熟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904549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网络改造成本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高，需要协调相关</a:t>
                      </a:r>
                      <a:r>
                        <a:rPr lang="en-US" altLang="zh-CN" sz="1400" dirty="0" smtClean="0"/>
                        <a:t>tier1</a:t>
                      </a:r>
                      <a:r>
                        <a:rPr lang="zh-CN" altLang="en-US" sz="1400" dirty="0" smtClean="0"/>
                        <a:t>协调改造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77756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软件开销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大，需要处理以太网协议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极小，直接远程控制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618220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975856" y="5377074"/>
            <a:ext cx="707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smtClean="0"/>
              <a:t>TC18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GPAN</a:t>
            </a:r>
            <a:r>
              <a:rPr lang="zh-CN" altLang="en-US" b="1" dirty="0" smtClean="0"/>
              <a:t>带宽利用率对比示意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7" y="5846832"/>
            <a:ext cx="6624323" cy="56263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90" y="804885"/>
            <a:ext cx="4515687" cy="55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0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/>
              <a:t>GPAN</a:t>
            </a:r>
            <a:r>
              <a:rPr lang="zh-CN" altLang="en-US" dirty="0"/>
              <a:t>应用场景方案对比示意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分布式功放方案对比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751537"/>
              </p:ext>
            </p:extLst>
          </p:nvPr>
        </p:nvGraphicFramePr>
        <p:xfrm>
          <a:off x="213361" y="750146"/>
          <a:ext cx="11689078" cy="5588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0449">
                  <a:extLst>
                    <a:ext uri="{9D8B030D-6E8A-4147-A177-3AD203B41FA5}">
                      <a16:colId xmlns:a16="http://schemas.microsoft.com/office/drawing/2014/main" val="3993241442"/>
                    </a:ext>
                  </a:extLst>
                </a:gridCol>
                <a:gridCol w="2778270">
                  <a:extLst>
                    <a:ext uri="{9D8B030D-6E8A-4147-A177-3AD203B41FA5}">
                      <a16:colId xmlns:a16="http://schemas.microsoft.com/office/drawing/2014/main" val="3083916653"/>
                    </a:ext>
                  </a:extLst>
                </a:gridCol>
                <a:gridCol w="2385060">
                  <a:extLst>
                    <a:ext uri="{9D8B030D-6E8A-4147-A177-3AD203B41FA5}">
                      <a16:colId xmlns:a16="http://schemas.microsoft.com/office/drawing/2014/main" val="425304042"/>
                    </a:ext>
                  </a:extLst>
                </a:gridCol>
                <a:gridCol w="4305299">
                  <a:extLst>
                    <a:ext uri="{9D8B030D-6E8A-4147-A177-3AD203B41FA5}">
                      <a16:colId xmlns:a16="http://schemas.microsoft.com/office/drawing/2014/main" val="1064868163"/>
                    </a:ext>
                  </a:extLst>
                </a:gridCol>
              </a:tblGrid>
              <a:tr h="34041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对比项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以太网音频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A2B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GPAN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51827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线束成本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低，和千兆以太网共用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高，单独总线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低，和</a:t>
                      </a:r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数据网络共用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45759"/>
                  </a:ext>
                </a:extLst>
              </a:tr>
              <a:tr h="538990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芯片成本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高，交换机</a:t>
                      </a:r>
                      <a:r>
                        <a:rPr lang="en-US" altLang="zh-CN" sz="1600" dirty="0" smtClean="0"/>
                        <a:t>/PHY/MCU</a:t>
                      </a:r>
                      <a:r>
                        <a:rPr lang="zh-CN" altLang="en-US" sz="1600" dirty="0" smtClean="0"/>
                        <a:t>都需要支持</a:t>
                      </a:r>
                      <a:r>
                        <a:rPr lang="en-US" altLang="zh-CN" sz="1600" dirty="0" smtClean="0"/>
                        <a:t>TSN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高，独家垄断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低，国产芯片</a:t>
                      </a:r>
                      <a:endParaRPr lang="en-US" altLang="zh-CN" sz="1600" dirty="0" smtClean="0"/>
                    </a:p>
                    <a:p>
                      <a:r>
                        <a:rPr lang="zh-CN" altLang="en-US" sz="1600" dirty="0" smtClean="0"/>
                        <a:t>无，假如和</a:t>
                      </a:r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数据网络共用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22365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实现原理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复杂，基于</a:t>
                      </a:r>
                      <a:r>
                        <a:rPr lang="en-US" altLang="zh-CN" sz="1600" dirty="0" smtClean="0"/>
                        <a:t>TSN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</a:t>
                      </a:r>
                      <a:r>
                        <a:rPr lang="en-US" altLang="zh-CN" sz="1600" dirty="0" smtClean="0"/>
                        <a:t>TDM</a:t>
                      </a:r>
                      <a:r>
                        <a:rPr lang="zh-CN" altLang="en-US" sz="1600" dirty="0" smtClean="0"/>
                        <a:t>模式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低，</a:t>
                      </a:r>
                      <a:r>
                        <a:rPr lang="en-US" altLang="zh-CN" sz="1600" dirty="0" smtClean="0"/>
                        <a:t>TDM</a:t>
                      </a:r>
                      <a:r>
                        <a:rPr lang="zh-CN" altLang="en-US" sz="1600" dirty="0" smtClean="0"/>
                        <a:t>模式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30238"/>
                  </a:ext>
                </a:extLst>
              </a:tr>
              <a:tr h="651194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系统复杂度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很高，交换机</a:t>
                      </a:r>
                      <a:r>
                        <a:rPr lang="en-US" altLang="zh-CN" sz="1600" dirty="0" smtClean="0"/>
                        <a:t>/PHY/MCU</a:t>
                      </a:r>
                      <a:r>
                        <a:rPr lang="zh-CN" altLang="en-US" sz="1600" dirty="0" smtClean="0"/>
                        <a:t>都需要支持</a:t>
                      </a:r>
                      <a:r>
                        <a:rPr lang="en-US" altLang="zh-CN" sz="1600" dirty="0" smtClean="0"/>
                        <a:t>TSN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低，单独总线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低，单独总线，且可和</a:t>
                      </a:r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数据网络共用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26845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时延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高：约</a:t>
                      </a:r>
                      <a:r>
                        <a:rPr lang="en-US" altLang="zh-CN" sz="1600" dirty="0" smtClean="0"/>
                        <a:t>1~5ms(</a:t>
                      </a:r>
                      <a:r>
                        <a:rPr lang="zh-CN" altLang="en-US" sz="1600" dirty="0" smtClean="0"/>
                        <a:t>包转发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</a:t>
                      </a:r>
                      <a:r>
                        <a:rPr lang="en-US" altLang="zh-CN" sz="1600" dirty="0" smtClean="0"/>
                        <a:t>: us</a:t>
                      </a:r>
                      <a:r>
                        <a:rPr lang="zh-CN" altLang="en-US" sz="1600" dirty="0" smtClean="0"/>
                        <a:t>级别</a:t>
                      </a:r>
                      <a:r>
                        <a:rPr lang="en-US" altLang="zh-CN" sz="1600" dirty="0" smtClean="0"/>
                        <a:t>(</a:t>
                      </a:r>
                      <a:r>
                        <a:rPr lang="zh-CN" altLang="en-US" sz="1600" dirty="0" smtClean="0"/>
                        <a:t>半双工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smtClean="0"/>
                        <a:t>低</a:t>
                      </a:r>
                      <a:r>
                        <a:rPr lang="en-US" altLang="zh-CN" sz="1600" dirty="0" smtClean="0"/>
                        <a:t>: ~100us(</a:t>
                      </a:r>
                      <a:r>
                        <a:rPr lang="zh-CN" altLang="en-US" sz="1600" dirty="0" smtClean="0"/>
                        <a:t>全双工</a:t>
                      </a:r>
                      <a:r>
                        <a:rPr lang="en-US" altLang="zh-CN" sz="1600" dirty="0" smtClean="0"/>
                        <a:t>+</a:t>
                      </a:r>
                      <a:r>
                        <a:rPr lang="zh-CN" altLang="en-US" sz="1600" dirty="0" smtClean="0"/>
                        <a:t>大带宽</a:t>
                      </a:r>
                      <a:r>
                        <a:rPr lang="en-US" altLang="zh-CN" sz="1600" dirty="0" smtClean="0"/>
                        <a:t>)</a:t>
                      </a:r>
                      <a:endParaRPr lang="zh-CN" altLang="en-US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597597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误码率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</a:t>
                      </a:r>
                      <a:r>
                        <a:rPr lang="en-US" altLang="zh-CN" sz="1600" dirty="0" smtClean="0"/>
                        <a:t>:10</a:t>
                      </a:r>
                      <a:r>
                        <a:rPr lang="en-US" altLang="zh-CN" sz="1600" baseline="30000" dirty="0" smtClean="0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未公布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低</a:t>
                      </a:r>
                      <a:r>
                        <a:rPr lang="en-US" altLang="zh-CN" sz="1600" dirty="0" smtClean="0"/>
                        <a:t>:10</a:t>
                      </a:r>
                      <a:r>
                        <a:rPr lang="en-US" altLang="zh-CN" sz="1600" baseline="30000" dirty="0" smtClean="0"/>
                        <a:t>-10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22876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RNC(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2–3ms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有风险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支持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支持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269224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ANC(</a:t>
                      </a:r>
                      <a:r>
                        <a:rPr lang="en-US" altLang="zh-CN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0.5–1ms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不支持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支持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支持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857231"/>
                  </a:ext>
                </a:extLst>
              </a:tr>
              <a:tr h="53899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Slave SYNC RMS TIE Jitter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未公布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应该较大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S1:1.57ns  S10:5.5ns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Normal: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&lt;1.2ns  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性能模式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~50ps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备注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:Jitter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越小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相位噪声越小</a:t>
                      </a:r>
                      <a:r>
                        <a:rPr lang="en-US" altLang="zh-CN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zh-CN" altLang="en-US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信噪比越好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395907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各节点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Sync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同步性能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未公布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低，小于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1us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，越小感受越好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091274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每次上电传输时延抖动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未公布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低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低，小于</a:t>
                      </a:r>
                      <a:r>
                        <a:rPr lang="en-US" altLang="zh-CN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1us</a:t>
                      </a:r>
                      <a:r>
                        <a:rPr lang="zh-CN" altLang="en-US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，越小降噪性能越好</a:t>
                      </a:r>
                      <a:endParaRPr lang="en-US" altLang="zh-CN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405200"/>
                  </a:ext>
                </a:extLst>
              </a:tr>
              <a:tr h="312047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单线故障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环模式支持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不支持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环模式支持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042784"/>
                  </a:ext>
                </a:extLst>
              </a:tr>
              <a:tr h="368783"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综合成本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高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高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低</a:t>
                      </a:r>
                      <a:endParaRPr lang="zh-CN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30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28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/>
              <a:t>GPAN</a:t>
            </a:r>
            <a:r>
              <a:rPr lang="zh-CN" altLang="en-US" dirty="0"/>
              <a:t>应用场景方案对比示意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音频硬件连接框图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179" y="5788730"/>
            <a:ext cx="115451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核心优势：</a:t>
            </a:r>
            <a:r>
              <a:rPr lang="en-US" altLang="zh-CN" sz="2000" b="1" dirty="0" smtClean="0"/>
              <a:t>GPAN </a:t>
            </a:r>
            <a:r>
              <a:rPr lang="en-US" altLang="zh-CN" sz="2000" b="1" dirty="0" err="1" smtClean="0"/>
              <a:t>MCULess</a:t>
            </a:r>
            <a:r>
              <a:rPr lang="zh-CN" altLang="en-US" sz="2000" b="1" dirty="0" smtClean="0"/>
              <a:t>的分布式音频系统，</a:t>
            </a:r>
            <a:r>
              <a:rPr lang="en-US" altLang="zh-CN" sz="2000" b="1" dirty="0" err="1" smtClean="0"/>
              <a:t>HiFi</a:t>
            </a:r>
            <a:r>
              <a:rPr lang="en-US" altLang="zh-CN" sz="2000" b="1" dirty="0" smtClean="0"/>
              <a:t> </a:t>
            </a:r>
            <a:r>
              <a:rPr lang="zh-CN" altLang="en-US" sz="2000" b="1" dirty="0" smtClean="0"/>
              <a:t>高保真音频性能业界最佳，整体成本业界最低</a:t>
            </a:r>
            <a:endParaRPr lang="zh-CN" altLang="en-US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60" y="934592"/>
            <a:ext cx="10601168" cy="452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27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芯片选型参考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969130"/>
              </p:ext>
            </p:extLst>
          </p:nvPr>
        </p:nvGraphicFramePr>
        <p:xfrm>
          <a:off x="355600" y="818726"/>
          <a:ext cx="212852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物理层通信标准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5G/2.5G/1G(</a:t>
                      </a:r>
                      <a:r>
                        <a:rPr lang="zh-CN" altLang="en-US" dirty="0" smtClean="0"/>
                        <a:t>开发中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100M(100Base-T1)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10M(10Base-T1S)??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CAN/CAN-FD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5236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434086"/>
              </p:ext>
            </p:extLst>
          </p:nvPr>
        </p:nvGraphicFramePr>
        <p:xfrm>
          <a:off x="2781300" y="818726"/>
          <a:ext cx="20193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4166244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IO</a:t>
                      </a:r>
                      <a:r>
                        <a:rPr lang="zh-CN" altLang="en-US" dirty="0" smtClean="0"/>
                        <a:t>类型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1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SPIs/QSPIs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95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SPIm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PWM 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72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PWM Out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9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I2C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01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UART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6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xMII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595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T1S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48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CAN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77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432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ADC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280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GPIO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63329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745982"/>
              </p:ext>
            </p:extLst>
          </p:nvPr>
        </p:nvGraphicFramePr>
        <p:xfrm>
          <a:off x="5097780" y="818726"/>
          <a:ext cx="21285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封装大小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待定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BGA196(10*10)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BGA144(8*8)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BGA64(6*6)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QFN64(9*9)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659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QFN32(5*5)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45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TBD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52360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09004"/>
              </p:ext>
            </p:extLst>
          </p:nvPr>
        </p:nvGraphicFramePr>
        <p:xfrm>
          <a:off x="7444740" y="818726"/>
          <a:ext cx="21285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音频接口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不支持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I2S/TDM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PDM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714166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22779"/>
              </p:ext>
            </p:extLst>
          </p:nvPr>
        </p:nvGraphicFramePr>
        <p:xfrm>
          <a:off x="9791700" y="822112"/>
          <a:ext cx="21285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孤岛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挂死保护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可选</a:t>
                      </a:r>
                      <a:r>
                        <a:rPr lang="en-US" altLang="zh-CN" dirty="0" smtClean="0"/>
                        <a:t>RSIC-V/M0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GPIO</a:t>
                      </a:r>
                      <a:r>
                        <a:rPr lang="zh-CN" altLang="en-US" dirty="0" smtClean="0"/>
                        <a:t>输出电平锁定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76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zh-CN" altLang="en-US" dirty="0" smtClean="0"/>
              <a:t>车载</a:t>
            </a:r>
            <a:r>
              <a:rPr lang="zh-CN" altLang="en-US" dirty="0"/>
              <a:t>以太网</a:t>
            </a:r>
            <a:r>
              <a:rPr lang="en-US" altLang="zh-CN" dirty="0"/>
              <a:t>TSN</a:t>
            </a:r>
            <a:r>
              <a:rPr lang="zh-CN" altLang="en-US" dirty="0" smtClean="0"/>
              <a:t>现状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协议功能说明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902017"/>
            <a:ext cx="11061120" cy="421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6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在以太网协议中的位置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628650"/>
            <a:ext cx="1100137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9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--- 802.1Qav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61" y="654676"/>
            <a:ext cx="8264939" cy="548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7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--- 802.1Qbv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758" y="1090818"/>
            <a:ext cx="3806544" cy="331003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3" y="1090818"/>
            <a:ext cx="7565708" cy="286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5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--- 802.1CB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200150"/>
            <a:ext cx="83058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5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--- 802.1Qbu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87" y="654676"/>
            <a:ext cx="8509953" cy="558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2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以太网音频处理流程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62" y="953910"/>
            <a:ext cx="11117825" cy="434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3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zh-CN" altLang="en-US" dirty="0" smtClean="0"/>
              <a:t>传统</a:t>
            </a:r>
            <a:r>
              <a:rPr lang="en-US" altLang="zh-CN" dirty="0" smtClean="0"/>
              <a:t>A2B</a:t>
            </a:r>
            <a:r>
              <a:rPr lang="zh-CN" altLang="en-US" dirty="0" smtClean="0"/>
              <a:t>的降噪方案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333" y="855980"/>
            <a:ext cx="8053388" cy="450937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8179" y="5788730"/>
            <a:ext cx="10687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存在的改进点：需要单独的</a:t>
            </a:r>
            <a:r>
              <a:rPr lang="en-US" altLang="zh-CN" sz="2000" b="1" dirty="0" smtClean="0"/>
              <a:t>A2B</a:t>
            </a:r>
            <a:r>
              <a:rPr lang="zh-CN" altLang="en-US" sz="2000" b="1" dirty="0" smtClean="0"/>
              <a:t>收音总线，</a:t>
            </a:r>
            <a:r>
              <a:rPr lang="en-US" altLang="zh-CN" sz="2000" b="1" dirty="0" smtClean="0"/>
              <a:t>microphone</a:t>
            </a:r>
            <a:r>
              <a:rPr lang="zh-CN" altLang="en-US" sz="2000" b="1" dirty="0" smtClean="0"/>
              <a:t>和</a:t>
            </a:r>
            <a:r>
              <a:rPr lang="en-US" altLang="zh-CN" sz="2000" b="1" dirty="0" smtClean="0"/>
              <a:t>speaker</a:t>
            </a:r>
            <a:r>
              <a:rPr lang="zh-CN" altLang="en-US" sz="2000" b="1" smtClean="0"/>
              <a:t>分离，走线困难，成本高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641721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实施难点</a:t>
            </a:r>
            <a:r>
              <a:rPr lang="zh-CN" altLang="en-US" dirty="0"/>
              <a:t>交流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83138"/>
              </p:ext>
            </p:extLst>
          </p:nvPr>
        </p:nvGraphicFramePr>
        <p:xfrm>
          <a:off x="363220" y="925406"/>
          <a:ext cx="11424921" cy="505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320">
                  <a:extLst>
                    <a:ext uri="{9D8B030D-6E8A-4147-A177-3AD203B41FA5}">
                      <a16:colId xmlns:a16="http://schemas.microsoft.com/office/drawing/2014/main" val="1573143997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508201188"/>
                    </a:ext>
                  </a:extLst>
                </a:gridCol>
                <a:gridCol w="1965961">
                  <a:extLst>
                    <a:ext uri="{9D8B030D-6E8A-4147-A177-3AD203B41FA5}">
                      <a16:colId xmlns:a16="http://schemas.microsoft.com/office/drawing/2014/main" val="3019662751"/>
                    </a:ext>
                  </a:extLst>
                </a:gridCol>
              </a:tblGrid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难点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简述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待确认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99222"/>
                  </a:ext>
                </a:extLst>
              </a:tr>
              <a:tr h="995167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协议复杂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TSN 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不是一条协议，而是一大族 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IEEE 802.1 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子标准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不同业务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场景（音频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视频、控制、诊断、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OTA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ADAS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）需要不同组合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协议配置复杂，标准之间也有交叉和演进，实现难度太高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78973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芯片</a:t>
                      </a:r>
                      <a:r>
                        <a:rPr lang="en-US" altLang="zh-CN" dirty="0" smtClean="0"/>
                        <a:t>BOM</a:t>
                      </a:r>
                      <a:r>
                        <a:rPr lang="zh-CN" altLang="en-US" dirty="0" smtClean="0"/>
                        <a:t>成本高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交换机规格高、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PHY/MCU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需要支持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TSN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，直接增加了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BOM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031426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系统配置复杂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车载业务动态多变，</a:t>
                      </a:r>
                      <a:r>
                        <a:rPr lang="en-US" altLang="zh-CN" dirty="0" smtClean="0"/>
                        <a:t>TSN</a:t>
                      </a:r>
                      <a:r>
                        <a:rPr lang="zh-CN" altLang="en-US" dirty="0" smtClean="0"/>
                        <a:t>的配置管理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如资源预留和调度时隙</a:t>
                      </a:r>
                      <a:r>
                        <a:rPr lang="en-US" altLang="zh-CN" dirty="0" smtClean="0"/>
                        <a:t>)</a:t>
                      </a:r>
                      <a:r>
                        <a:rPr lang="zh-CN" altLang="en-US" dirty="0" smtClean="0"/>
                        <a:t>过于复杂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48251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协议栈适配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将</a:t>
                      </a:r>
                      <a:r>
                        <a:rPr lang="en-US" altLang="zh-CN" dirty="0" smtClean="0"/>
                        <a:t>TSN</a:t>
                      </a:r>
                      <a:r>
                        <a:rPr lang="zh-CN" altLang="en-US" dirty="0" smtClean="0"/>
                        <a:t>协议栈和现有平台适配，难度太大，验证困难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946557"/>
                  </a:ext>
                </a:extLst>
              </a:tr>
              <a:tr h="554017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改造困难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现有</a:t>
                      </a:r>
                      <a:r>
                        <a:rPr lang="en-US" altLang="zh-CN" dirty="0" smtClean="0"/>
                        <a:t>CAN/LIN</a:t>
                      </a:r>
                      <a:r>
                        <a:rPr lang="zh-CN" altLang="en-US" dirty="0" smtClean="0"/>
                        <a:t>网络适配改造困难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498323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投入产出比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高，国内也无商业成功案例参考，都在预研探讨阶段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84703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其它？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32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09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JiN2IzZjI4MWU5ZGM1YmQxMDYxNWFjOWMwZjgyYmI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49099</TotalTime>
  <Words>1770</Words>
  <Application>Microsoft Office PowerPoint</Application>
  <PresentationFormat>宽屏</PresentationFormat>
  <Paragraphs>270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Noto Sans</vt:lpstr>
      <vt:lpstr>Noto Sans </vt:lpstr>
      <vt:lpstr>等线</vt:lpstr>
      <vt:lpstr>宋体</vt:lpstr>
      <vt:lpstr>微软雅黑</vt:lpstr>
      <vt:lpstr>Arial</vt:lpstr>
      <vt:lpstr>Calibri</vt:lpstr>
      <vt:lpstr>Times New Roman</vt:lpstr>
      <vt:lpstr>Verdana</vt:lpstr>
      <vt:lpstr>Wingdings</vt:lpstr>
      <vt:lpstr>1_自定义设计方案</vt:lpstr>
      <vt:lpstr>PowerPoint 演示文稿</vt:lpstr>
      <vt:lpstr>GPAN 整体介绍 --- GPAN是什么？</vt:lpstr>
      <vt:lpstr>GPAN概要介绍 --- 高效/可靠/低成本/低时延组网的IO扩展芯片</vt:lpstr>
      <vt:lpstr>GPAN应用场景对比示意总览</vt:lpstr>
      <vt:lpstr>GPAN应用场景ZCU的功能IO分布示例</vt:lpstr>
      <vt:lpstr>GPAN应用场景方案对比示意 --- 传统方案和MCULess方案比对</vt:lpstr>
      <vt:lpstr>GPAN应用场景方案对比示意 --- 现有MCULess方案对比</vt:lpstr>
      <vt:lpstr>GPAN应用场景方案对比示意 --- 分布式功放方案对比</vt:lpstr>
      <vt:lpstr>GPAN应用场景方案对比示意 --- 音频硬件连接框图</vt:lpstr>
      <vt:lpstr>GPAN芯片选型参考</vt:lpstr>
      <vt:lpstr>PowerPoint 演示文稿</vt:lpstr>
      <vt:lpstr>车载以太网TSN现状 --- 协议功能说明</vt:lpstr>
      <vt:lpstr>TSN在以太网协议中的位置</vt:lpstr>
      <vt:lpstr>TSN重点子协议介绍 --- 802.1Qav</vt:lpstr>
      <vt:lpstr>TSN重点子协议介绍 --- 802.1Qbv</vt:lpstr>
      <vt:lpstr>TSN重点子协议介绍 --- 802.1CB</vt:lpstr>
      <vt:lpstr>TSN重点子协议介绍 --- 802.1Qbu</vt:lpstr>
      <vt:lpstr>TSN重点子协议介绍 --- 以太网音频处理流程</vt:lpstr>
      <vt:lpstr>传统A2B的降噪方案</vt:lpstr>
      <vt:lpstr>TSN实施难点交流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mingtian-6</dc:creator>
  <cp:lastModifiedBy>Jihui Wang(王继辉)</cp:lastModifiedBy>
  <cp:revision>2545</cp:revision>
  <cp:lastPrinted>2021-11-02T23:10:00Z</cp:lastPrinted>
  <dcterms:created xsi:type="dcterms:W3CDTF">2017-11-09T06:11:00Z</dcterms:created>
  <dcterms:modified xsi:type="dcterms:W3CDTF">2025-11-26T07:19:53Z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4CB69FE5AF2E4959B7B3D41B58310A57_12</vt:lpwstr>
  </property>
  <property fmtid="{D5CDD505-2E9C-101B-9397-08002B2CF9AE}" pid="3" name="KSOProductBuildVer">
    <vt:lpwstr>2052-12.1.0.15120</vt:lpwstr>
  </property>
</Properties>
</file>