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317" r:id="rId3"/>
    <p:sldId id="319" r:id="rId4"/>
    <p:sldId id="321" r:id="rId5"/>
    <p:sldId id="318" r:id="rId6"/>
    <p:sldId id="320" r:id="rId7"/>
    <p:sldId id="265" r:id="rId8"/>
    <p:sldId id="323" r:id="rId9"/>
    <p:sldId id="322" r:id="rId10"/>
    <p:sldId id="324" r:id="rId11"/>
    <p:sldId id="326" r:id="rId12"/>
    <p:sldId id="325" r:id="rId13"/>
    <p:sldId id="327" r:id="rId14"/>
    <p:sldId id="328" r:id="rId15"/>
    <p:sldId id="329" r:id="rId16"/>
  </p:sldIdLst>
  <p:sldSz cx="12192000" cy="6858000"/>
  <p:notesSz cx="6858000" cy="9144000"/>
  <p:custDataLst>
    <p:tags r:id="rId1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57" userDrawn="1">
          <p15:clr>
            <a:srgbClr val="A4A3A4"/>
          </p15:clr>
        </p15:guide>
        <p15:guide id="4" orient="horz" pos="4156" userDrawn="1">
          <p15:clr>
            <a:srgbClr val="A4A3A4"/>
          </p15:clr>
        </p15:guide>
        <p15:guide id="5" orient="horz" pos="34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42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AD47"/>
    <a:srgbClr val="E9EBF5"/>
    <a:srgbClr val="0066C6"/>
    <a:srgbClr val="F3F5F7"/>
    <a:srgbClr val="243BD6"/>
    <a:srgbClr val="5BB9FF"/>
    <a:srgbClr val="02BA84"/>
    <a:srgbClr val="273ED9"/>
    <a:srgbClr val="E6FAFB"/>
    <a:srgbClr val="E6FB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6387" autoAdjust="0"/>
  </p:normalViewPr>
  <p:slideViewPr>
    <p:cSldViewPr snapToGrid="0" showGuides="1">
      <p:cViewPr varScale="1">
        <p:scale>
          <a:sx n="100" d="100"/>
          <a:sy n="100" d="100"/>
        </p:scale>
        <p:origin x="413" y="77"/>
      </p:cViewPr>
      <p:guideLst>
        <p:guide pos="257"/>
        <p:guide orient="horz" pos="4156"/>
        <p:guide orient="horz" pos="340"/>
        <p:guide pos="3840"/>
        <p:guide pos="74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8EDE15-EEE2-4081-8EBB-DB4110CD7C88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EFF83F-F741-4C1E-8A5E-1EAB50BE1B01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BE7F37DF-4F16-9745-AA28-38E3DD3536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542925" y="476398"/>
            <a:ext cx="1988041" cy="36307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3" name="图形 2">
            <a:extLst>
              <a:ext uri="{FF2B5EF4-FFF2-40B4-BE49-F238E27FC236}">
                <a16:creationId xmlns:a16="http://schemas.microsoft.com/office/drawing/2014/main" id="{6488F5A6-0D36-F24F-8BD3-9439F7A934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640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Secre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Top Secret</a:t>
            </a:r>
            <a:endParaRPr lang="zh-CN" altLang="en-US" sz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5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16CA02FD-67E8-0B41-8338-DB6C47B0019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identi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Confidential</a:t>
            </a:r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8" name="图形 7">
            <a:extLst>
              <a:ext uri="{FF2B5EF4-FFF2-40B4-BE49-F238E27FC236}">
                <a16:creationId xmlns:a16="http://schemas.microsoft.com/office/drawing/2014/main" id="{C89E1347-505D-5E4D-98BA-4AF5EB6943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re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8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Secret </a:t>
            </a:r>
          </a:p>
        </p:txBody>
      </p:sp>
      <p:sp>
        <p:nvSpPr>
          <p:cNvPr id="10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0A2B82-B500-C3DE-15CB-50EF1FC89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图形 5">
            <a:extLst>
              <a:ext uri="{FF2B5EF4-FFF2-40B4-BE49-F238E27FC236}">
                <a16:creationId xmlns:a16="http://schemas.microsoft.com/office/drawing/2014/main" id="{5C6DDD2A-1492-4344-B915-C37ED6EC38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U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 userDrawn="1"/>
        </p:nvSpPr>
        <p:spPr>
          <a:xfrm>
            <a:off x="335902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Internal Use</a:t>
            </a:r>
          </a:p>
        </p:txBody>
      </p:sp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FEFD3D-8087-3DB1-FED2-C37282A5B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3BAA0596-E59F-2344-B943-692DF4B09F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xternal Us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5"/>
          <p:cNvSpPr txBox="1"/>
          <p:nvPr userDrawn="1"/>
        </p:nvSpPr>
        <p:spPr>
          <a:xfrm>
            <a:off x="11371819" y="6357033"/>
            <a:ext cx="5215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741FD71-6158-49F1-8270-C043196D0437}" type="slidenum">
              <a:rPr lang="zh-CN" altLang="en-US" sz="1200" kern="1200" smtClean="0">
                <a:solidFill>
                  <a:schemeClr val="tx2">
                    <a:lumMod val="60000"/>
                    <a:lumOff val="40000"/>
                  </a:schemeClr>
                </a:solidFill>
                <a:latin typeface="Noto Sans" panose="020B0502040504020204" pitchFamily="34" charset="0"/>
                <a:ea typeface="+mn-ea"/>
                <a:cs typeface="Noto Sans" panose="020B0502040504020204" pitchFamily="34" charset="0"/>
              </a:rPr>
              <a:t>‹#›</a:t>
            </a:fld>
            <a:endParaRPr lang="zh-CN" altLang="en-US" sz="1200" kern="1200" dirty="0">
              <a:solidFill>
                <a:schemeClr val="tx2">
                  <a:lumMod val="60000"/>
                  <a:lumOff val="40000"/>
                </a:schemeClr>
              </a:solidFill>
              <a:latin typeface="Noto Sans" panose="020B0502040504020204" pitchFamily="34" charset="0"/>
              <a:ea typeface="+mn-ea"/>
              <a:cs typeface="Noto Sans" panose="020B0502040504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85C410-9AB5-0AC6-23D8-CDFE694E2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029" y="196876"/>
            <a:ext cx="8402354" cy="381600"/>
          </a:xfrm>
          <a:prstGeom prst="rect">
            <a:avLst/>
          </a:prstGeom>
        </p:spPr>
        <p:txBody>
          <a:bodyPr/>
          <a:lstStyle>
            <a:lvl1pPr>
              <a:defRPr lang="en-US" sz="2800" b="1" kern="1200" dirty="0">
                <a:solidFill>
                  <a:schemeClr val="tx1"/>
                </a:solidFill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3E9000-A4E3-E54E-B477-5F6B88DF48F3}"/>
              </a:ext>
            </a:extLst>
          </p:cNvPr>
          <p:cNvSpPr txBox="1"/>
          <p:nvPr userDrawn="1"/>
        </p:nvSpPr>
        <p:spPr>
          <a:xfrm>
            <a:off x="325120" y="6407835"/>
            <a:ext cx="24526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200" kern="100" dirty="0">
                <a:solidFill>
                  <a:schemeClr val="tx2">
                    <a:lumMod val="60000"/>
                    <a:lumOff val="40000"/>
                  </a:schemeClr>
                </a:solidFill>
                <a:effectLst/>
                <a:latin typeface="Noto Sans "/>
                <a:ea typeface="Verdana" panose="020B0604030504040204" pitchFamily="34" charset="0"/>
                <a:cs typeface="Times New Roman" panose="02020603050405020304" pitchFamily="18" charset="0"/>
              </a:rPr>
              <a:t>External Use</a:t>
            </a:r>
          </a:p>
        </p:txBody>
      </p:sp>
      <p:pic>
        <p:nvPicPr>
          <p:cNvPr id="7" name="图形 6">
            <a:extLst>
              <a:ext uri="{FF2B5EF4-FFF2-40B4-BE49-F238E27FC236}">
                <a16:creationId xmlns:a16="http://schemas.microsoft.com/office/drawing/2014/main" id="{6CDDDEF9-6BE6-3D4F-9D9C-AC427D0725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10604806" y="328930"/>
            <a:ext cx="1203019" cy="2197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 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6FA2FFF-CEB9-41D2-9A75-32205B2BEC9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0882" y="2924550"/>
            <a:ext cx="3140308" cy="10080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98F1E-8F98-469F-A0E7-D0596213CD0A}" type="datetimeFigureOut">
              <a:rPr lang="zh-CN" altLang="en-US" smtClean="0"/>
              <a:t>2025/9/28</a:t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1FD71-6158-49F1-8270-C043196D0437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961292" y="2223132"/>
            <a:ext cx="102915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altLang="zh-CN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GPAN </a:t>
            </a:r>
            <a:r>
              <a:rPr lang="zh-CN" altLang="en-US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车载</a:t>
            </a:r>
            <a:r>
              <a:rPr lang="en-US" altLang="zh-CN" sz="6000" b="1" spc="100" dirty="0" err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MCULess</a:t>
            </a:r>
            <a:r>
              <a:rPr lang="zh-CN" altLang="en-US" sz="6000" b="1" spc="100" dirty="0" smtClean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应用</a:t>
            </a:r>
            <a:r>
              <a:rPr lang="zh-CN" altLang="en-US" sz="6000" b="1" spc="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分析</a:t>
            </a:r>
            <a:endParaRPr lang="en-US" altLang="zh-CN" sz="6000" b="1" spc="100" dirty="0" smtClean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  <a:p>
            <a:pPr algn="r"/>
            <a:r>
              <a:rPr lang="en-US" altLang="zh-CN" sz="3200" b="1" spc="100" dirty="0" smtClean="0">
                <a:latin typeface="Noto Sans" panose="020B0502040504020204" pitchFamily="34" charset="0"/>
              </a:rPr>
              <a:t>(</a:t>
            </a:r>
            <a:r>
              <a:rPr lang="en-US" altLang="zh-CN" sz="3200" b="1" dirty="0" smtClean="0"/>
              <a:t>G</a:t>
            </a:r>
            <a:r>
              <a:rPr lang="en-US" altLang="zh-CN" sz="3200" dirty="0" smtClean="0"/>
              <a:t>eneral </a:t>
            </a:r>
            <a:r>
              <a:rPr lang="en-US" altLang="zh-CN" sz="3200" b="1" dirty="0"/>
              <a:t>P</a:t>
            </a:r>
            <a:r>
              <a:rPr lang="en-US" altLang="zh-CN" sz="3200" dirty="0"/>
              <a:t>urpose </a:t>
            </a:r>
            <a:r>
              <a:rPr lang="en-US" altLang="zh-CN" sz="3200" b="1" dirty="0"/>
              <a:t>A</a:t>
            </a:r>
            <a:r>
              <a:rPr lang="en-US" altLang="zh-CN" sz="3200" dirty="0"/>
              <a:t>ccess </a:t>
            </a:r>
            <a:r>
              <a:rPr lang="en-US" altLang="zh-CN" sz="3200" b="1" dirty="0" smtClean="0"/>
              <a:t>N</a:t>
            </a:r>
            <a:r>
              <a:rPr lang="en-US" altLang="zh-CN" sz="3200" dirty="0" smtClean="0"/>
              <a:t>etwork)</a:t>
            </a:r>
            <a:endParaRPr lang="en-US" altLang="zh-CN" sz="3200" b="1" spc="100" dirty="0" smtClean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应用场景对比示意总览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661063"/>
              </p:ext>
            </p:extLst>
          </p:nvPr>
        </p:nvGraphicFramePr>
        <p:xfrm>
          <a:off x="178969" y="5152551"/>
          <a:ext cx="11885972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2986">
                  <a:extLst>
                    <a:ext uri="{9D8B030D-6E8A-4147-A177-3AD203B41FA5}">
                      <a16:colId xmlns:a16="http://schemas.microsoft.com/office/drawing/2014/main" val="3093747122"/>
                    </a:ext>
                  </a:extLst>
                </a:gridCol>
                <a:gridCol w="5942986">
                  <a:extLst>
                    <a:ext uri="{9D8B030D-6E8A-4147-A177-3AD203B41FA5}">
                      <a16:colId xmlns:a16="http://schemas.microsoft.com/office/drawing/2014/main" val="996031783"/>
                    </a:ext>
                  </a:extLst>
                </a:gridCol>
              </a:tblGrid>
              <a:tr h="11690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当前方案存在的改进点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GPAN</a:t>
                      </a:r>
                      <a:r>
                        <a:rPr lang="zh-CN" altLang="en-US" sz="1600" dirty="0" smtClean="0"/>
                        <a:t>解决方案核心优势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57217794"/>
                  </a:ext>
                </a:extLst>
              </a:tr>
              <a:tr h="116905"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每个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都需要一个高算力的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之间协同需要依赖交换机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marR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所有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都需要一个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，成本高，维护困难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集中式功放音频线束太长，对于多音响的系统来说重量重，成本高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集中式功放音质较难满足铂金和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HIFI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音响要求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散热和长模拟线束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最多只保留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个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ZCU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，其它原有的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MCU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用远程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IO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芯片代替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BOM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和维护成本都更低，软件集中化，算力共享，更好协同，</a:t>
                      </a:r>
                      <a:r>
                        <a:rPr lang="en-US" altLang="zh-CN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CAN</a:t>
                      </a: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网段减少，硬件升级扩展更容易</a:t>
                      </a:r>
                      <a:endParaRPr lang="en-US" altLang="zh-CN" sz="14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4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音频和控制数据合一，低时延，高可靠，是最佳解决方案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6693123"/>
                  </a:ext>
                </a:extLst>
              </a:tr>
            </a:tbl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970" y="868097"/>
            <a:ext cx="5909655" cy="415544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300" y="868097"/>
            <a:ext cx="5731641" cy="415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5031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传统方案和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方案比对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380193"/>
              </p:ext>
            </p:extLst>
          </p:nvPr>
        </p:nvGraphicFramePr>
        <p:xfrm>
          <a:off x="279400" y="1706799"/>
          <a:ext cx="11539220" cy="46596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9900">
                  <a:extLst>
                    <a:ext uri="{9D8B030D-6E8A-4147-A177-3AD203B41FA5}">
                      <a16:colId xmlns:a16="http://schemas.microsoft.com/office/drawing/2014/main" val="2978231903"/>
                    </a:ext>
                  </a:extLst>
                </a:gridCol>
                <a:gridCol w="3192780">
                  <a:extLst>
                    <a:ext uri="{9D8B030D-6E8A-4147-A177-3AD203B41FA5}">
                      <a16:colId xmlns:a16="http://schemas.microsoft.com/office/drawing/2014/main" val="491094133"/>
                    </a:ext>
                  </a:extLst>
                </a:gridCol>
                <a:gridCol w="3070860">
                  <a:extLst>
                    <a:ext uri="{9D8B030D-6E8A-4147-A177-3AD203B41FA5}">
                      <a16:colId xmlns:a16="http://schemas.microsoft.com/office/drawing/2014/main" val="4131927496"/>
                    </a:ext>
                  </a:extLst>
                </a:gridCol>
                <a:gridCol w="3535680">
                  <a:extLst>
                    <a:ext uri="{9D8B030D-6E8A-4147-A177-3AD203B41FA5}">
                      <a16:colId xmlns:a16="http://schemas.microsoft.com/office/drawing/2014/main" val="2465791290"/>
                    </a:ext>
                  </a:extLst>
                </a:gridCol>
              </a:tblGrid>
              <a:tr h="46674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对比项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传统方案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GPAN </a:t>
                      </a:r>
                      <a:r>
                        <a:rPr lang="en-US" altLang="zh-CN" dirty="0" err="1" smtClean="0"/>
                        <a:t>MCULess</a:t>
                      </a:r>
                      <a:r>
                        <a:rPr lang="zh-CN" altLang="en-US" dirty="0" smtClean="0"/>
                        <a:t>方案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收益说明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0819763"/>
                  </a:ext>
                </a:extLst>
              </a:tr>
              <a:tr h="51899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算力成本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高，算力资源无法共享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低，算力资源共享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可减少</a:t>
                      </a:r>
                      <a:r>
                        <a:rPr lang="en-US" altLang="zh-CN" dirty="0" smtClean="0"/>
                        <a:t>ZCU</a:t>
                      </a:r>
                      <a:r>
                        <a:rPr lang="zh-CN" altLang="en-US" dirty="0" smtClean="0"/>
                        <a:t>的综合</a:t>
                      </a:r>
                      <a:r>
                        <a:rPr lang="en-US" altLang="zh-CN" dirty="0" smtClean="0"/>
                        <a:t>MCU</a:t>
                      </a:r>
                      <a:r>
                        <a:rPr lang="zh-CN" altLang="en-US" dirty="0" smtClean="0"/>
                        <a:t>算力需求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178108"/>
                  </a:ext>
                </a:extLst>
              </a:tr>
              <a:tr h="46674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协同控制成本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高，需要通过网关协同控制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低，处理集中后天然协同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可减少</a:t>
                      </a:r>
                      <a:r>
                        <a:rPr lang="en-US" altLang="zh-CN" dirty="0" smtClean="0"/>
                        <a:t>ZCU</a:t>
                      </a:r>
                      <a:r>
                        <a:rPr lang="zh-CN" altLang="en-US" dirty="0" smtClean="0"/>
                        <a:t>的综合</a:t>
                      </a:r>
                      <a:r>
                        <a:rPr lang="en-US" altLang="zh-CN" dirty="0" smtClean="0"/>
                        <a:t>MCU</a:t>
                      </a:r>
                      <a:r>
                        <a:rPr lang="zh-CN" altLang="en-US" dirty="0" smtClean="0"/>
                        <a:t>算力需求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8286683"/>
                  </a:ext>
                </a:extLst>
              </a:tr>
              <a:tr h="81680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协议互转成本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</a:t>
                      </a:r>
                      <a:r>
                        <a:rPr lang="en-US" altLang="zh-CN" dirty="0" smtClean="0"/>
                        <a:t>CAN</a:t>
                      </a:r>
                      <a:r>
                        <a:rPr lang="zh-CN" altLang="en-US" dirty="0" smtClean="0"/>
                        <a:t>网段多，</a:t>
                      </a:r>
                      <a:r>
                        <a:rPr lang="en-US" altLang="zh-CN" dirty="0" smtClean="0"/>
                        <a:t>CAN/LIN/</a:t>
                      </a:r>
                      <a:r>
                        <a:rPr lang="zh-CN" altLang="en-US" dirty="0" smtClean="0"/>
                        <a:t>以太网互转开销大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低，网段合并，</a:t>
                      </a:r>
                      <a:r>
                        <a:rPr lang="en-US" altLang="zh-CN" dirty="0" smtClean="0"/>
                        <a:t>GPAN</a:t>
                      </a:r>
                      <a:r>
                        <a:rPr lang="zh-CN" altLang="en-US" dirty="0" smtClean="0"/>
                        <a:t>芯片支持</a:t>
                      </a:r>
                      <a:r>
                        <a:rPr lang="en-US" altLang="zh-CN" dirty="0" smtClean="0"/>
                        <a:t>CAN/LIN/</a:t>
                      </a:r>
                      <a:r>
                        <a:rPr lang="zh-CN" altLang="en-US" dirty="0" smtClean="0"/>
                        <a:t>以太网互转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可减少</a:t>
                      </a:r>
                      <a:r>
                        <a:rPr lang="en-US" altLang="zh-CN" dirty="0" smtClean="0"/>
                        <a:t>ZCU</a:t>
                      </a:r>
                      <a:r>
                        <a:rPr lang="zh-CN" altLang="en-US" dirty="0" smtClean="0"/>
                        <a:t>的综合</a:t>
                      </a:r>
                      <a:r>
                        <a:rPr lang="en-US" altLang="zh-CN" dirty="0" smtClean="0"/>
                        <a:t>MCU</a:t>
                      </a:r>
                      <a:r>
                        <a:rPr lang="zh-CN" altLang="en-US" dirty="0" smtClean="0"/>
                        <a:t>算力需求</a:t>
                      </a:r>
                    </a:p>
                    <a:p>
                      <a:r>
                        <a:rPr lang="zh-CN" altLang="en-US" dirty="0" smtClean="0"/>
                        <a:t>网段合并可减少</a:t>
                      </a:r>
                      <a:r>
                        <a:rPr lang="en-US" altLang="zh-CN" dirty="0" smtClean="0"/>
                        <a:t>CAN</a:t>
                      </a:r>
                      <a:r>
                        <a:rPr lang="zh-CN" altLang="en-US" dirty="0" smtClean="0"/>
                        <a:t>的端口数量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5183579"/>
                  </a:ext>
                </a:extLst>
              </a:tr>
              <a:tr h="46674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软件开发成本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高，需要开发众多</a:t>
                      </a:r>
                      <a:r>
                        <a:rPr lang="en-US" altLang="zh-CN" dirty="0" smtClean="0"/>
                        <a:t>MCU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</a:t>
                      </a:r>
                      <a:r>
                        <a:rPr lang="en-US" altLang="zh-CN" dirty="0" smtClean="0"/>
                        <a:t>MCU</a:t>
                      </a:r>
                      <a:r>
                        <a:rPr lang="zh-CN" altLang="en-US" dirty="0" smtClean="0"/>
                        <a:t>数量可大幅减少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减少了软件开发成本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9730804"/>
                  </a:ext>
                </a:extLst>
              </a:tr>
              <a:tr h="46674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软件维护成本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高，需要维护众多</a:t>
                      </a:r>
                      <a:r>
                        <a:rPr lang="en-US" altLang="zh-CN" dirty="0" smtClean="0"/>
                        <a:t>MCU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低，</a:t>
                      </a:r>
                      <a:r>
                        <a:rPr lang="en-US" altLang="zh-CN" dirty="0" err="1" smtClean="0"/>
                        <a:t>MCULess</a:t>
                      </a:r>
                      <a:r>
                        <a:rPr lang="zh-CN" altLang="en-US" dirty="0" smtClean="0"/>
                        <a:t>节点无需维护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减少了软件维护成本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2011070"/>
                  </a:ext>
                </a:extLst>
              </a:tr>
              <a:tr h="816800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音频支持成本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</a:t>
                      </a:r>
                      <a:r>
                        <a:rPr lang="en-US" altLang="zh-CN" dirty="0" smtClean="0"/>
                        <a:t>A2B</a:t>
                      </a:r>
                      <a:r>
                        <a:rPr lang="zh-CN" altLang="en-US" dirty="0" smtClean="0"/>
                        <a:t>贵且走线多，以太网</a:t>
                      </a:r>
                      <a:r>
                        <a:rPr lang="en-US" altLang="zh-CN" dirty="0" smtClean="0"/>
                        <a:t>TSN</a:t>
                      </a:r>
                      <a:r>
                        <a:rPr lang="zh-CN" altLang="en-US" dirty="0" smtClean="0"/>
                        <a:t>音频会抬升系统成本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低，控制数据和音频天然融合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为分布式功放最佳方案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8649729"/>
                  </a:ext>
                </a:extLst>
              </a:tr>
              <a:tr h="627351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综合成本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显性成本</a:t>
                      </a:r>
                      <a:r>
                        <a:rPr lang="en-US" altLang="zh-CN" dirty="0" smtClean="0"/>
                        <a:t>(BOM):</a:t>
                      </a:r>
                      <a:r>
                        <a:rPr lang="zh-CN" altLang="en-US" dirty="0" smtClean="0"/>
                        <a:t>高</a:t>
                      </a:r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隐性成本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开发维护</a:t>
                      </a:r>
                      <a:r>
                        <a:rPr lang="en-US" altLang="zh-CN" dirty="0" smtClean="0"/>
                        <a:t>):</a:t>
                      </a:r>
                      <a:r>
                        <a:rPr lang="zh-CN" altLang="en-US" dirty="0" smtClean="0"/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显性成本</a:t>
                      </a:r>
                      <a:r>
                        <a:rPr lang="en-US" altLang="zh-CN" dirty="0" smtClean="0"/>
                        <a:t>:</a:t>
                      </a:r>
                      <a:r>
                        <a:rPr lang="zh-CN" altLang="en-US" dirty="0" smtClean="0"/>
                        <a:t>低</a:t>
                      </a:r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隐性成本</a:t>
                      </a:r>
                      <a:r>
                        <a:rPr lang="en-US" altLang="zh-CN" dirty="0" smtClean="0"/>
                        <a:t>:</a:t>
                      </a:r>
                      <a:r>
                        <a:rPr lang="zh-CN" altLang="en-US" dirty="0" smtClean="0"/>
                        <a:t>低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可根据客户要求细化收益数据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34764"/>
                  </a:ext>
                </a:extLst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279400" y="654676"/>
            <a:ext cx="11539220" cy="9233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zh-CN" altLang="en-US" dirty="0" smtClean="0"/>
              <a:t>：是未来</a:t>
            </a:r>
            <a:r>
              <a:rPr lang="en-US" altLang="zh-CN" dirty="0" smtClean="0"/>
              <a:t>SDV</a:t>
            </a:r>
            <a:r>
              <a:rPr lang="zh-CN" altLang="en-US" dirty="0" smtClean="0"/>
              <a:t>的核心技术点，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提供了最先进的低时延、高可靠的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zh-CN" altLang="en-US" b="1" dirty="0" smtClean="0"/>
              <a:t>分布式功放</a:t>
            </a:r>
            <a:r>
              <a:rPr lang="zh-CN" altLang="en-US" dirty="0" smtClean="0"/>
              <a:t>：相比</a:t>
            </a:r>
            <a:r>
              <a:rPr lang="en-US" altLang="zh-CN" dirty="0" smtClean="0"/>
              <a:t>A2B</a:t>
            </a:r>
            <a:r>
              <a:rPr lang="zh-CN" altLang="en-US" dirty="0" smtClean="0"/>
              <a:t>和以太网音频，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分布式功放为最优方案</a:t>
            </a:r>
            <a:endParaRPr lang="en-US" altLang="zh-CN" dirty="0" smtClean="0"/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en-US" altLang="zh-CN" b="1" dirty="0" smtClean="0"/>
              <a:t>+</a:t>
            </a:r>
            <a:r>
              <a:rPr lang="zh-CN" altLang="en-US" b="1" dirty="0" smtClean="0"/>
              <a:t>分布式功放</a:t>
            </a:r>
            <a:r>
              <a:rPr lang="zh-CN" altLang="en-US" dirty="0" smtClean="0"/>
              <a:t>：</a:t>
            </a:r>
            <a:r>
              <a:rPr lang="en-US" altLang="zh-CN" dirty="0" smtClean="0"/>
              <a:t>GPAN</a:t>
            </a:r>
            <a:r>
              <a:rPr lang="zh-CN" altLang="en-US" dirty="0" smtClean="0"/>
              <a:t>提供了最佳终极解决方案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332748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/>
              <a:t>现有</a:t>
            </a:r>
            <a:r>
              <a:rPr lang="en-US" altLang="zh-CN" dirty="0" err="1" smtClean="0"/>
              <a:t>MCULess</a:t>
            </a:r>
            <a:r>
              <a:rPr lang="zh-CN" altLang="en-US" dirty="0" smtClean="0"/>
              <a:t>方案对比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151120" y="723133"/>
            <a:ext cx="3566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 smtClean="0"/>
              <a:t>MCULess</a:t>
            </a:r>
            <a:r>
              <a:rPr lang="zh-CN" altLang="en-US" b="1" dirty="0" smtClean="0"/>
              <a:t>应用参考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一</a:t>
            </a:r>
            <a:r>
              <a:rPr lang="en-US" altLang="zh-CN" b="1" dirty="0" smtClean="0"/>
              <a:t>)</a:t>
            </a:r>
            <a:endParaRPr lang="zh-CN" altLang="en-US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4975857" y="3446922"/>
            <a:ext cx="27334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err="1"/>
              <a:t>MCULess</a:t>
            </a:r>
            <a:r>
              <a:rPr lang="zh-CN" altLang="en-US" b="1" dirty="0"/>
              <a:t>应用参考</a:t>
            </a:r>
            <a:r>
              <a:rPr lang="en-US" altLang="zh-CN" b="1" dirty="0" smtClean="0"/>
              <a:t>(</a:t>
            </a:r>
            <a:r>
              <a:rPr lang="zh-CN" altLang="en-US" b="1" dirty="0" smtClean="0"/>
              <a:t>二</a:t>
            </a:r>
            <a:r>
              <a:rPr lang="en-US" altLang="zh-CN" b="1" dirty="0" smtClean="0"/>
              <a:t>)</a:t>
            </a:r>
            <a:endParaRPr lang="zh-CN" altLang="en-US" b="1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0631316"/>
              </p:ext>
            </p:extLst>
          </p:nvPr>
        </p:nvGraphicFramePr>
        <p:xfrm>
          <a:off x="5029197" y="1092465"/>
          <a:ext cx="6842762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0663">
                  <a:extLst>
                    <a:ext uri="{9D8B030D-6E8A-4147-A177-3AD203B41FA5}">
                      <a16:colId xmlns:a16="http://schemas.microsoft.com/office/drawing/2014/main" val="26836726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297431451"/>
                    </a:ext>
                  </a:extLst>
                </a:gridCol>
                <a:gridCol w="2446019">
                  <a:extLst>
                    <a:ext uri="{9D8B030D-6E8A-4147-A177-3AD203B41FA5}">
                      <a16:colId xmlns:a16="http://schemas.microsoft.com/office/drawing/2014/main" val="682947383"/>
                    </a:ext>
                  </a:extLst>
                </a:gridCol>
              </a:tblGrid>
              <a:tr h="235402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对比项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T1S </a:t>
                      </a:r>
                      <a:r>
                        <a:rPr lang="en-US" altLang="zh-CN" sz="1600" dirty="0" err="1" smtClean="0"/>
                        <a:t>MCULess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100Base-T1 GPAN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25196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内部处理时延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</a:t>
                      </a:r>
                      <a:r>
                        <a:rPr lang="en-US" altLang="zh-CN" sz="1400" dirty="0" smtClean="0"/>
                        <a:t>, </a:t>
                      </a:r>
                      <a:r>
                        <a:rPr lang="zh-CN" altLang="en-US" sz="1400" dirty="0" smtClean="0"/>
                        <a:t>＞</a:t>
                      </a:r>
                      <a:r>
                        <a:rPr lang="en-US" altLang="zh-CN" sz="1400" dirty="0" smtClean="0"/>
                        <a:t>290us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短，＜</a:t>
                      </a:r>
                      <a:r>
                        <a:rPr lang="en-US" altLang="zh-CN" sz="1400" dirty="0" smtClean="0"/>
                        <a:t>50us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3388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带宽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小，半双工</a:t>
                      </a:r>
                      <a:r>
                        <a:rPr lang="en-US" altLang="zh-CN" sz="1400" dirty="0" smtClean="0"/>
                        <a:t>10M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大，环模式全双工</a:t>
                      </a:r>
                      <a:r>
                        <a:rPr lang="en-US" altLang="zh-CN" sz="1400" dirty="0" smtClean="0"/>
                        <a:t>200M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04549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en-US" altLang="zh-CN" sz="1400" dirty="0" smtClean="0"/>
                        <a:t>IO</a:t>
                      </a:r>
                      <a:r>
                        <a:rPr lang="zh-CN" altLang="en-US" sz="1400" dirty="0" smtClean="0"/>
                        <a:t>数量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少，受限于带宽和时延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大，得益于带宽和时延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77756"/>
                  </a:ext>
                </a:extLst>
              </a:tr>
              <a:tr h="214002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音频播放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困难，带宽小，时延大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容易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8041613"/>
                  </a:ext>
                </a:extLst>
              </a:tr>
              <a:tr h="513605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应用场景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三级网络</a:t>
                      </a:r>
                      <a:endParaRPr lang="en-US" altLang="zh-CN" sz="1400" dirty="0" smtClean="0"/>
                    </a:p>
                    <a:p>
                      <a:r>
                        <a:rPr lang="en-US" altLang="zh-CN" sz="1400" dirty="0" smtClean="0"/>
                        <a:t>ECU</a:t>
                      </a:r>
                      <a:r>
                        <a:rPr lang="zh-CN" altLang="en-US" sz="1400" dirty="0" smtClean="0"/>
                        <a:t>控制，如灯光，座椅等带宽小，时延和带宽不敏感场景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二级网络和部分三级网络</a:t>
                      </a:r>
                      <a:endParaRPr lang="en-US" altLang="zh-CN" sz="1400" dirty="0" smtClean="0"/>
                    </a:p>
                    <a:p>
                      <a:r>
                        <a:rPr lang="zh-CN" altLang="en-US" sz="1400" dirty="0" smtClean="0"/>
                        <a:t>时延敏感场景，如防夹</a:t>
                      </a:r>
                      <a:endParaRPr lang="en-US" altLang="zh-CN" sz="1400" dirty="0" smtClean="0"/>
                    </a:p>
                    <a:p>
                      <a:r>
                        <a:rPr lang="zh-CN" altLang="en-US" sz="1400" dirty="0" smtClean="0"/>
                        <a:t>高带宽或音频场景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5335269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703513"/>
              </p:ext>
            </p:extLst>
          </p:nvPr>
        </p:nvGraphicFramePr>
        <p:xfrm>
          <a:off x="5029197" y="3816254"/>
          <a:ext cx="6842762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3">
                  <a:extLst>
                    <a:ext uri="{9D8B030D-6E8A-4147-A177-3AD203B41FA5}">
                      <a16:colId xmlns:a16="http://schemas.microsoft.com/office/drawing/2014/main" val="26836726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297431451"/>
                    </a:ext>
                  </a:extLst>
                </a:gridCol>
                <a:gridCol w="2430779">
                  <a:extLst>
                    <a:ext uri="{9D8B030D-6E8A-4147-A177-3AD203B41FA5}">
                      <a16:colId xmlns:a16="http://schemas.microsoft.com/office/drawing/2014/main" val="682947383"/>
                    </a:ext>
                  </a:extLst>
                </a:gridCol>
              </a:tblGrid>
              <a:tr h="252605">
                <a:tc>
                  <a:txBody>
                    <a:bodyPr/>
                    <a:lstStyle/>
                    <a:p>
                      <a:r>
                        <a:rPr lang="zh-CN" altLang="en-US" sz="1600" dirty="0" smtClean="0"/>
                        <a:t>对比项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600" dirty="0" smtClean="0"/>
                        <a:t>T1S </a:t>
                      </a:r>
                      <a:r>
                        <a:rPr lang="en-US" altLang="zh-CN" sz="1600" dirty="0" err="1" smtClean="0"/>
                        <a:t>MCULess</a:t>
                      </a:r>
                      <a:endParaRPr lang="zh-CN" alt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600" dirty="0" smtClean="0"/>
                        <a:t>CAN-FD GPAN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6425196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带宽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高，</a:t>
                      </a:r>
                      <a:r>
                        <a:rPr lang="en-US" altLang="zh-CN" sz="1400" dirty="0" smtClean="0"/>
                        <a:t>10Base-T1(</a:t>
                      </a:r>
                      <a:r>
                        <a:rPr lang="zh-CN" altLang="en-US" sz="1400" dirty="0" smtClean="0"/>
                        <a:t>半双工</a:t>
                      </a:r>
                      <a:r>
                        <a:rPr lang="en-US" altLang="zh-CN" sz="1400" dirty="0" smtClean="0"/>
                        <a:t>10M)</a:t>
                      </a:r>
                      <a:endParaRPr lang="zh-CN" altLang="en-US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中，</a:t>
                      </a:r>
                      <a:r>
                        <a:rPr lang="en-US" altLang="zh-CN" sz="1400" dirty="0" smtClean="0"/>
                        <a:t>CAN-FD(</a:t>
                      </a:r>
                      <a:r>
                        <a:rPr lang="zh-CN" altLang="en-US" sz="1400" dirty="0" smtClean="0"/>
                        <a:t>半双工</a:t>
                      </a:r>
                      <a:r>
                        <a:rPr lang="en-US" altLang="zh-CN" sz="1400" dirty="0" smtClean="0"/>
                        <a:t>5M)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4213388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生态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差，</a:t>
                      </a:r>
                      <a:r>
                        <a:rPr lang="en-US" altLang="zh-CN" sz="1400" dirty="0" smtClean="0"/>
                        <a:t>T1S</a:t>
                      </a:r>
                      <a:r>
                        <a:rPr lang="zh-CN" altLang="en-US" sz="1400" dirty="0" smtClean="0"/>
                        <a:t>网络国内暂未商用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好，</a:t>
                      </a:r>
                      <a:r>
                        <a:rPr lang="en-US" altLang="zh-CN" sz="1400" dirty="0" smtClean="0"/>
                        <a:t>CAN</a:t>
                      </a:r>
                      <a:r>
                        <a:rPr lang="zh-CN" altLang="en-US" sz="1400" dirty="0" smtClean="0"/>
                        <a:t>网络非常成熟</a:t>
                      </a:r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9904549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网络改造成本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高，需要协调相关</a:t>
                      </a:r>
                      <a:r>
                        <a:rPr lang="en-US" altLang="zh-CN" sz="1400" dirty="0" smtClean="0"/>
                        <a:t>tier1</a:t>
                      </a:r>
                      <a:r>
                        <a:rPr lang="zh-CN" altLang="en-US" sz="1400" dirty="0" smtClean="0"/>
                        <a:t>协调改造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无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6877756"/>
                  </a:ext>
                </a:extLst>
              </a:tr>
              <a:tr h="229641"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软件开销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大，需要处理以太网协议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 smtClean="0"/>
                        <a:t>极小，直接远程控制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9618220"/>
                  </a:ext>
                </a:extLst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975856" y="5477291"/>
            <a:ext cx="70739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b="1" dirty="0" smtClean="0"/>
              <a:t>TC18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GPAN</a:t>
            </a:r>
            <a:r>
              <a:rPr lang="zh-CN" altLang="en-US" b="1" dirty="0" smtClean="0"/>
              <a:t>带宽利用率对比示意</a:t>
            </a:r>
            <a:endParaRPr lang="zh-CN" altLang="en-US" b="1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7" y="5900172"/>
            <a:ext cx="6624323" cy="56263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2" y="606564"/>
            <a:ext cx="4772025" cy="6031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10074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/>
              <a:t>GPAN</a:t>
            </a:r>
            <a:r>
              <a:rPr lang="zh-CN" altLang="en-US" dirty="0"/>
              <a:t>应用场景方案对比示意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分布式功放方案对比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991387"/>
              </p:ext>
            </p:extLst>
          </p:nvPr>
        </p:nvGraphicFramePr>
        <p:xfrm>
          <a:off x="426720" y="917786"/>
          <a:ext cx="11231880" cy="51172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2140">
                  <a:extLst>
                    <a:ext uri="{9D8B030D-6E8A-4147-A177-3AD203B41FA5}">
                      <a16:colId xmlns:a16="http://schemas.microsoft.com/office/drawing/2014/main" val="3993241442"/>
                    </a:ext>
                  </a:extLst>
                </a:gridCol>
                <a:gridCol w="3025140">
                  <a:extLst>
                    <a:ext uri="{9D8B030D-6E8A-4147-A177-3AD203B41FA5}">
                      <a16:colId xmlns:a16="http://schemas.microsoft.com/office/drawing/2014/main" val="308391665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425304042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1064868163"/>
                    </a:ext>
                  </a:extLst>
                </a:gridCol>
              </a:tblGrid>
              <a:tr h="41738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对比项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以太网音频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A2B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 smtClean="0"/>
                        <a:t>GPAN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51827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线束成本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低，和千兆以太网共用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高，单独总线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低，和</a:t>
                      </a:r>
                      <a:r>
                        <a:rPr lang="en-US" altLang="zh-CN" dirty="0" smtClean="0"/>
                        <a:t>GPAN</a:t>
                      </a:r>
                      <a:r>
                        <a:rPr lang="zh-CN" altLang="en-US" dirty="0" smtClean="0"/>
                        <a:t>数据网络共用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4445759"/>
                  </a:ext>
                </a:extLst>
              </a:tr>
              <a:tr h="72041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芯片成本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高，交换机</a:t>
                      </a:r>
                      <a:r>
                        <a:rPr lang="en-US" altLang="zh-CN" dirty="0" smtClean="0"/>
                        <a:t>/PHY/MCU</a:t>
                      </a:r>
                      <a:r>
                        <a:rPr lang="zh-CN" altLang="en-US" dirty="0" smtClean="0"/>
                        <a:t>都需要支持</a:t>
                      </a:r>
                      <a:r>
                        <a:rPr lang="en-US" altLang="zh-CN" dirty="0" smtClean="0"/>
                        <a:t>TSN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高，独家垄断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低，国产芯片</a:t>
                      </a:r>
                      <a:endParaRPr lang="en-US" altLang="zh-CN" dirty="0" smtClean="0"/>
                    </a:p>
                    <a:p>
                      <a:r>
                        <a:rPr lang="zh-CN" altLang="en-US" dirty="0" smtClean="0"/>
                        <a:t>无，假如和</a:t>
                      </a:r>
                      <a:r>
                        <a:rPr lang="en-US" altLang="zh-CN" dirty="0" smtClean="0"/>
                        <a:t>GPAN</a:t>
                      </a:r>
                      <a:r>
                        <a:rPr lang="zh-CN" altLang="en-US" dirty="0" smtClean="0"/>
                        <a:t>数据网络共用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1122365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实现原理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复杂，基于</a:t>
                      </a:r>
                      <a:r>
                        <a:rPr lang="en-US" altLang="zh-CN" dirty="0" smtClean="0"/>
                        <a:t>TSN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</a:t>
                      </a:r>
                      <a:r>
                        <a:rPr lang="en-US" altLang="zh-CN" dirty="0" smtClean="0"/>
                        <a:t>TDM</a:t>
                      </a:r>
                      <a:r>
                        <a:rPr lang="zh-CN" altLang="en-US" dirty="0" smtClean="0"/>
                        <a:t>模式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低，</a:t>
                      </a:r>
                      <a:r>
                        <a:rPr lang="en-US" altLang="zh-CN" dirty="0" smtClean="0"/>
                        <a:t>TDM</a:t>
                      </a:r>
                      <a:r>
                        <a:rPr lang="zh-CN" altLang="en-US" dirty="0" smtClean="0"/>
                        <a:t>模式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3430238"/>
                  </a:ext>
                </a:extLst>
              </a:tr>
              <a:tr h="1029168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系统复杂度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很高，交换机</a:t>
                      </a:r>
                      <a:r>
                        <a:rPr lang="en-US" altLang="zh-CN" dirty="0" smtClean="0"/>
                        <a:t>/PHY/MCU</a:t>
                      </a:r>
                      <a:r>
                        <a:rPr lang="zh-CN" altLang="en-US" dirty="0" smtClean="0"/>
                        <a:t>都需要支持</a:t>
                      </a:r>
                      <a:r>
                        <a:rPr lang="en-US" altLang="zh-CN" dirty="0" smtClean="0"/>
                        <a:t>TSN</a:t>
                      </a:r>
                      <a:endParaRPr lang="zh-CN" alt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低，单独总线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低，单独总线，且可和</a:t>
                      </a:r>
                      <a:r>
                        <a:rPr lang="en-US" altLang="zh-CN" dirty="0" smtClean="0"/>
                        <a:t>GPAN</a:t>
                      </a:r>
                      <a:r>
                        <a:rPr lang="zh-CN" altLang="en-US" dirty="0" smtClean="0"/>
                        <a:t>数据网络共用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726845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时延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高：约</a:t>
                      </a:r>
                      <a:r>
                        <a:rPr lang="en-US" altLang="zh-CN" dirty="0" smtClean="0"/>
                        <a:t>1~5ms(</a:t>
                      </a:r>
                      <a:r>
                        <a:rPr lang="zh-CN" altLang="en-US" dirty="0" smtClean="0"/>
                        <a:t>包转发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低</a:t>
                      </a:r>
                      <a:r>
                        <a:rPr lang="en-US" altLang="zh-CN" dirty="0" smtClean="0"/>
                        <a:t>: us</a:t>
                      </a:r>
                      <a:r>
                        <a:rPr lang="zh-CN" altLang="en-US" dirty="0" smtClean="0"/>
                        <a:t>级别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半双工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最低</a:t>
                      </a:r>
                      <a:r>
                        <a:rPr lang="en-US" altLang="zh-CN" dirty="0" smtClean="0"/>
                        <a:t>: 100us</a:t>
                      </a:r>
                      <a:r>
                        <a:rPr lang="zh-CN" altLang="en-US" dirty="0" smtClean="0"/>
                        <a:t>内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全双工</a:t>
                      </a:r>
                      <a:r>
                        <a:rPr lang="en-US" altLang="zh-CN" dirty="0" smtClean="0"/>
                        <a:t>+</a:t>
                      </a:r>
                      <a:r>
                        <a:rPr lang="zh-CN" altLang="en-US" dirty="0" smtClean="0"/>
                        <a:t>大带宽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3597597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RNC(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2–3ms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有风险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0269224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ANC(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≤ 0.5–1ms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不支持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1857231"/>
                  </a:ext>
                </a:extLst>
              </a:tr>
              <a:tr h="417385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单线故障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环模式支持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不支持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环模式支持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9042784"/>
                  </a:ext>
                </a:extLst>
              </a:tr>
              <a:tr h="445973"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综合成本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高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高</a:t>
                      </a:r>
                      <a:endParaRPr lang="zh-CN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2000" b="1" dirty="0" smtClean="0"/>
                        <a:t>低</a:t>
                      </a:r>
                      <a:endParaRPr lang="zh-CN" altLang="en-US" sz="20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93025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2849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GPAN</a:t>
            </a:r>
            <a:r>
              <a:rPr lang="zh-CN" altLang="en-US" dirty="0" smtClean="0"/>
              <a:t>芯片选型参考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4969130"/>
              </p:ext>
            </p:extLst>
          </p:nvPr>
        </p:nvGraphicFramePr>
        <p:xfrm>
          <a:off x="355600" y="818726"/>
          <a:ext cx="21285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物理层通信标准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5G/2.5G/1G(</a:t>
                      </a:r>
                      <a:r>
                        <a:rPr lang="zh-CN" altLang="en-US" dirty="0" smtClean="0"/>
                        <a:t>开发中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100M(100Base-T1)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10M(10Base-T1S)??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CAN/CAN-FD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23608"/>
                  </a:ext>
                </a:extLst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434086"/>
              </p:ext>
            </p:extLst>
          </p:nvPr>
        </p:nvGraphicFramePr>
        <p:xfrm>
          <a:off x="2781300" y="818726"/>
          <a:ext cx="20193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>
                  <a:extLst>
                    <a:ext uri="{9D8B030D-6E8A-4147-A177-3AD203B41FA5}">
                      <a16:colId xmlns:a16="http://schemas.microsoft.com/office/drawing/2014/main" val="41662442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IO</a:t>
                      </a:r>
                      <a:r>
                        <a:rPr lang="zh-CN" altLang="en-US" dirty="0" smtClean="0"/>
                        <a:t>类型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27172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SPIs/QSPIs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9595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SPIm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1598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PWM 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726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PWM Out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6908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I2C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70177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UART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560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 smtClean="0"/>
                        <a:t>xMII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65959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T1S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3485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CAN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37734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LIN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94321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ADC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806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GPIO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1633294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6020086"/>
              </p:ext>
            </p:extLst>
          </p:nvPr>
        </p:nvGraphicFramePr>
        <p:xfrm>
          <a:off x="5097780" y="818726"/>
          <a:ext cx="212852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封装大小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待定</a:t>
                      </a:r>
                      <a:r>
                        <a:rPr lang="en-US" altLang="zh-CN" dirty="0" smtClean="0"/>
                        <a:t>)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BGA192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BGA144</a:t>
                      </a:r>
                      <a:endParaRPr lang="zh-CN" alt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BGA64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56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BGA32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9523608"/>
                  </a:ext>
                </a:extLst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9004"/>
              </p:ext>
            </p:extLst>
          </p:nvPr>
        </p:nvGraphicFramePr>
        <p:xfrm>
          <a:off x="7444740" y="818726"/>
          <a:ext cx="212852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音频接口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不支持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I2S/TDM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PDM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714166"/>
                  </a:ext>
                </a:extLst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3622779"/>
              </p:ext>
            </p:extLst>
          </p:nvPr>
        </p:nvGraphicFramePr>
        <p:xfrm>
          <a:off x="9791700" y="822112"/>
          <a:ext cx="212852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520">
                  <a:extLst>
                    <a:ext uri="{9D8B030D-6E8A-4147-A177-3AD203B41FA5}">
                      <a16:colId xmlns:a16="http://schemas.microsoft.com/office/drawing/2014/main" val="28968048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孤岛</a:t>
                      </a:r>
                      <a:r>
                        <a:rPr lang="en-US" altLang="zh-CN" dirty="0" smtClean="0"/>
                        <a:t>/</a:t>
                      </a:r>
                      <a:r>
                        <a:rPr lang="zh-CN" altLang="en-US" dirty="0" smtClean="0"/>
                        <a:t>挂死保护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53414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 smtClean="0"/>
                        <a:t>可选</a:t>
                      </a:r>
                      <a:r>
                        <a:rPr lang="en-US" altLang="zh-CN" dirty="0" smtClean="0"/>
                        <a:t>RSIC-V/M0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57647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 smtClean="0"/>
                        <a:t>GPIO</a:t>
                      </a:r>
                      <a:r>
                        <a:rPr lang="zh-CN" altLang="en-US" dirty="0" smtClean="0"/>
                        <a:t>输出电平锁定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57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44768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zh-CN" altLang="en-US" dirty="0" smtClean="0"/>
              <a:t>车载</a:t>
            </a:r>
            <a:r>
              <a:rPr lang="zh-CN" altLang="en-US" dirty="0"/>
              <a:t>以太网</a:t>
            </a:r>
            <a:r>
              <a:rPr lang="en-US" altLang="zh-CN" dirty="0"/>
              <a:t>TSN</a:t>
            </a:r>
            <a:r>
              <a:rPr lang="zh-CN" altLang="en-US" dirty="0" smtClean="0"/>
              <a:t>现状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协议功能说明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40" y="902017"/>
            <a:ext cx="11061120" cy="421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667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在以太网协议中的位置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312" y="628650"/>
            <a:ext cx="11001375" cy="560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89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--- 802.1Qav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261" y="654676"/>
            <a:ext cx="8264939" cy="5487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178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--- 802.1Qbv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4758" y="1090818"/>
            <a:ext cx="3806544" cy="331003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53" y="1090818"/>
            <a:ext cx="7565708" cy="2868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753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--- 802.1CB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1200150"/>
            <a:ext cx="8305800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4655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--- 802.1Qbu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9887" y="654676"/>
            <a:ext cx="8509953" cy="558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1278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重点子协议介绍 </a:t>
            </a:r>
            <a:r>
              <a:rPr lang="en-US" altLang="zh-CN" dirty="0" smtClean="0"/>
              <a:t>--- </a:t>
            </a:r>
            <a:r>
              <a:rPr lang="zh-CN" altLang="en-US" dirty="0" smtClean="0"/>
              <a:t>以太网音频处理流程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62" y="953910"/>
            <a:ext cx="11117825" cy="4341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032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72" y="91448"/>
            <a:ext cx="11147356" cy="563228"/>
          </a:xfrm>
        </p:spPr>
        <p:txBody>
          <a:bodyPr/>
          <a:lstStyle/>
          <a:p>
            <a:r>
              <a:rPr lang="en-US" altLang="zh-CN" dirty="0" smtClean="0"/>
              <a:t>TSN</a:t>
            </a:r>
            <a:r>
              <a:rPr lang="zh-CN" altLang="en-US" dirty="0" smtClean="0"/>
              <a:t>实施难点</a:t>
            </a:r>
            <a:r>
              <a:rPr lang="zh-CN" altLang="en-US" dirty="0"/>
              <a:t>交流</a:t>
            </a:r>
            <a:endParaRPr lang="en-US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083138"/>
              </p:ext>
            </p:extLst>
          </p:nvPr>
        </p:nvGraphicFramePr>
        <p:xfrm>
          <a:off x="363220" y="925406"/>
          <a:ext cx="11424921" cy="5051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2320">
                  <a:extLst>
                    <a:ext uri="{9D8B030D-6E8A-4147-A177-3AD203B41FA5}">
                      <a16:colId xmlns:a16="http://schemas.microsoft.com/office/drawing/2014/main" val="1573143997"/>
                    </a:ext>
                  </a:extLst>
                </a:gridCol>
                <a:gridCol w="7406640">
                  <a:extLst>
                    <a:ext uri="{9D8B030D-6E8A-4147-A177-3AD203B41FA5}">
                      <a16:colId xmlns:a16="http://schemas.microsoft.com/office/drawing/2014/main" val="2508201188"/>
                    </a:ext>
                  </a:extLst>
                </a:gridCol>
                <a:gridCol w="1965961">
                  <a:extLst>
                    <a:ext uri="{9D8B030D-6E8A-4147-A177-3AD203B41FA5}">
                      <a16:colId xmlns:a16="http://schemas.microsoft.com/office/drawing/2014/main" val="3019662751"/>
                    </a:ext>
                  </a:extLst>
                </a:gridCol>
              </a:tblGrid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难点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简述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待确认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8399222"/>
                  </a:ext>
                </a:extLst>
              </a:tr>
              <a:tr h="995167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协议复杂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TSN 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不是一条协议，而是一大族 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IEEE 802.1 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子标准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不同业务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场景（音频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视频、控制、诊断、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OTA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ADAS</a:t>
                      </a:r>
                      <a:r>
                        <a:rPr lang="zh-CN" altLang="en-US" sz="18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）需要不同组合</a:t>
                      </a:r>
                      <a:endParaRPr lang="en-US" altLang="zh-CN" sz="18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>
                        <a:buFont typeface="Wingdings" panose="05000000000000000000" pitchFamily="2" charset="2"/>
                        <a:buChar char="Ø"/>
                      </a:pP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协议配置复杂，标准之间也有交叉和演进，实现难度太高</a:t>
                      </a:r>
                      <a:endParaRPr lang="zh-CN" altLang="en-US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307897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芯片</a:t>
                      </a:r>
                      <a:r>
                        <a:rPr lang="en-US" altLang="zh-CN" dirty="0" smtClean="0"/>
                        <a:t>BOM</a:t>
                      </a:r>
                      <a:r>
                        <a:rPr lang="zh-CN" altLang="en-US" dirty="0" smtClean="0"/>
                        <a:t>成本高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交换机规格高、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PHY/MCU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需要支持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TSN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，直接增加了 </a:t>
                      </a:r>
                      <a:r>
                        <a:rPr lang="en-US" altLang="zh-CN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BOM </a:t>
                      </a:r>
                      <a:r>
                        <a:rPr lang="zh-CN" alt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成本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2031426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系统配置复杂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车载业务动态多变，</a:t>
                      </a:r>
                      <a:r>
                        <a:rPr lang="en-US" altLang="zh-CN" dirty="0" smtClean="0"/>
                        <a:t>TSN</a:t>
                      </a:r>
                      <a:r>
                        <a:rPr lang="zh-CN" altLang="en-US" dirty="0" smtClean="0"/>
                        <a:t>的配置管理</a:t>
                      </a:r>
                      <a:r>
                        <a:rPr lang="en-US" altLang="zh-CN" dirty="0" smtClean="0"/>
                        <a:t>(</a:t>
                      </a:r>
                      <a:r>
                        <a:rPr lang="zh-CN" altLang="en-US" dirty="0" smtClean="0"/>
                        <a:t>如资源预留和调度时隙</a:t>
                      </a:r>
                      <a:r>
                        <a:rPr lang="en-US" altLang="zh-CN" dirty="0" smtClean="0"/>
                        <a:t>)</a:t>
                      </a:r>
                      <a:r>
                        <a:rPr lang="zh-CN" altLang="en-US" dirty="0" smtClean="0"/>
                        <a:t>过于复杂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48251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协议栈适配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将</a:t>
                      </a:r>
                      <a:r>
                        <a:rPr lang="en-US" altLang="zh-CN" dirty="0" smtClean="0"/>
                        <a:t>TSN</a:t>
                      </a:r>
                      <a:r>
                        <a:rPr lang="zh-CN" altLang="en-US" dirty="0" smtClean="0"/>
                        <a:t>协议栈和现有平台适配，难度太大，验证困难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0946557"/>
                  </a:ext>
                </a:extLst>
              </a:tr>
              <a:tr h="554017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改造困难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/>
                        <a:t>现有</a:t>
                      </a:r>
                      <a:r>
                        <a:rPr lang="en-US" altLang="zh-CN" dirty="0" smtClean="0"/>
                        <a:t>CAN/LIN</a:t>
                      </a:r>
                      <a:r>
                        <a:rPr lang="zh-CN" altLang="en-US" dirty="0" smtClean="0"/>
                        <a:t>网络适配改造困难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649832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投入产出比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高，国内也无商业成功案例参考，都在预研探讨阶段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284703"/>
                  </a:ext>
                </a:extLst>
              </a:tr>
              <a:tr h="551498">
                <a:tc>
                  <a:txBody>
                    <a:bodyPr/>
                    <a:lstStyle/>
                    <a:p>
                      <a:pPr algn="l"/>
                      <a:r>
                        <a:rPr lang="zh-CN" altLang="en-US" dirty="0" smtClean="0"/>
                        <a:t>其它？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532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3090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mJiN2IzZjI4MWU5ZGM1YmQxMDYxNWFjOWMwZjgyYmIifQ=="/>
</p:tagLst>
</file>

<file path=ppt/theme/theme1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46937</TotalTime>
  <Words>1050</Words>
  <Application>Microsoft Office PowerPoint</Application>
  <PresentationFormat>宽屏</PresentationFormat>
  <Paragraphs>190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Noto Sans</vt:lpstr>
      <vt:lpstr>Noto Sans </vt:lpstr>
      <vt:lpstr>等线</vt:lpstr>
      <vt:lpstr>宋体</vt:lpstr>
      <vt:lpstr>Arial</vt:lpstr>
      <vt:lpstr>Calibri</vt:lpstr>
      <vt:lpstr>Times New Roman</vt:lpstr>
      <vt:lpstr>Verdana</vt:lpstr>
      <vt:lpstr>Wingdings</vt:lpstr>
      <vt:lpstr>1_自定义设计方案</vt:lpstr>
      <vt:lpstr>PowerPoint 演示文稿</vt:lpstr>
      <vt:lpstr>GPAN应用场景对比示意总览</vt:lpstr>
      <vt:lpstr>GPAN应用场景方案对比示意 --- 传统方案和MCULess方案比对</vt:lpstr>
      <vt:lpstr>GPAN应用场景方案对比示意 --- 现有MCULess方案对比</vt:lpstr>
      <vt:lpstr>GPAN应用场景方案对比示意 --- 分布式功放方案对比</vt:lpstr>
      <vt:lpstr>GPAN芯片选型参考</vt:lpstr>
      <vt:lpstr>PowerPoint 演示文稿</vt:lpstr>
      <vt:lpstr>车载以太网TSN现状 --- 协议功能说明</vt:lpstr>
      <vt:lpstr>TSN在以太网协议中的位置</vt:lpstr>
      <vt:lpstr>TSN重点子协议介绍 --- 802.1Qav</vt:lpstr>
      <vt:lpstr>TSN重点子协议介绍 --- 802.1Qbv</vt:lpstr>
      <vt:lpstr>TSN重点子协议介绍 --- 802.1CB</vt:lpstr>
      <vt:lpstr>TSN重点子协议介绍 --- 802.1Qbu</vt:lpstr>
      <vt:lpstr>TSN重点子协议介绍 --- 以太网音频处理流程</vt:lpstr>
      <vt:lpstr>TSN实施难点交流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mingtian-6</dc:creator>
  <cp:lastModifiedBy>Jihui Wang(王继辉)</cp:lastModifiedBy>
  <cp:revision>2481</cp:revision>
  <cp:lastPrinted>2021-11-02T23:10:00Z</cp:lastPrinted>
  <dcterms:created xsi:type="dcterms:W3CDTF">2017-11-09T06:11:00Z</dcterms:created>
  <dcterms:modified xsi:type="dcterms:W3CDTF">2025-09-28T09:44:40Z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4CB69FE5AF2E4959B7B3D41B58310A57_12</vt:lpwstr>
  </property>
  <property fmtid="{D5CDD505-2E9C-101B-9397-08002B2CF9AE}" pid="3" name="KSOProductBuildVer">
    <vt:lpwstr>2052-12.1.0.15120</vt:lpwstr>
  </property>
</Properties>
</file>