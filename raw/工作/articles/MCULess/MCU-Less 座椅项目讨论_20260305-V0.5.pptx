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257" r:id="rId4"/>
    <p:sldId id="261" r:id="rId5"/>
    <p:sldId id="265" r:id="rId6"/>
    <p:sldId id="263" r:id="rId7"/>
    <p:sldId id="264" r:id="rId8"/>
    <p:sldId id="260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172" autoAdjust="0"/>
    <p:restoredTop sz="94660"/>
  </p:normalViewPr>
  <p:slideViewPr>
    <p:cSldViewPr snapToGrid="0">
      <p:cViewPr>
        <p:scale>
          <a:sx n="66" d="100"/>
          <a:sy n="66" d="100"/>
        </p:scale>
        <p:origin x="112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49A6E-074C-4195-B780-455A9055E4C7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C1053-5590-49B8-9217-D182F25EC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801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779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61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4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0021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8960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7541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790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NUL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.xml"/><Relationship Id="rId10" Type="http://schemas.openxmlformats.org/officeDocument/2006/relationships/image" Target="NULL"/><Relationship Id="rId4" Type="http://schemas.openxmlformats.org/officeDocument/2006/relationships/tags" Target="../tags/tag7.xml"/><Relationship Id="rId9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NUL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10" Type="http://schemas.openxmlformats.org/officeDocument/2006/relationships/image" Target="../media/image8.png"/><Relationship Id="rId4" Type="http://schemas.openxmlformats.org/officeDocument/2006/relationships/tags" Target="../tags/tag13.xml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9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69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65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46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1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62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7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93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2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214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/>
          <a:srcRect l="811" r="11417"/>
          <a:stretch>
            <a:fillRect/>
          </a:stretch>
        </p:blipFill>
        <p:spPr>
          <a:xfrm>
            <a:off x="0" y="0"/>
            <a:ext cx="12191365" cy="691515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0" hasCustomPrompt="1"/>
          </p:nvPr>
        </p:nvSpPr>
        <p:spPr>
          <a:xfrm>
            <a:off x="615618" y="2175619"/>
            <a:ext cx="7534861" cy="804985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sz="4000" b="1" u="none" strike="noStrike" kern="1200" cap="none" spc="0" normalizeH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 smtClean="0"/>
              <a:t>请键入标题</a:t>
            </a:r>
            <a:endParaRPr lang="en-US" altLang="zh-CN" dirty="0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1" hasCustomPrompt="1"/>
          </p:nvPr>
        </p:nvSpPr>
        <p:spPr>
          <a:xfrm>
            <a:off x="610235" y="3780790"/>
            <a:ext cx="7562850" cy="387350"/>
          </a:xfrm>
        </p:spPr>
        <p:txBody>
          <a:bodyPr anchor="ctr" anchorCtr="0">
            <a:noAutofit/>
          </a:bodyPr>
          <a:lstStyle>
            <a:lvl1pPr marL="0" indent="0" defTabSz="914400"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None/>
              <a:defRPr sz="2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defTabSz="914400" fontAlgn="base">
              <a:spcBef>
                <a:spcPts val="300"/>
              </a:spcBef>
              <a:spcAft>
                <a:spcPct val="0"/>
              </a:spcAft>
              <a:buClrTx/>
              <a:buSzPct val="100000"/>
            </a:pPr>
            <a:r>
              <a:rPr lang="zh-CN" altLang="en-US" dirty="0" smtClean="0"/>
              <a:t>年</a:t>
            </a:r>
            <a:r>
              <a:rPr lang="en-US" altLang="zh-CN" dirty="0"/>
              <a:t>-</a:t>
            </a:r>
            <a:r>
              <a:rPr lang="zh-CN" altLang="en-US" dirty="0"/>
              <a:t>月</a:t>
            </a:r>
            <a:r>
              <a:rPr lang="en-US" altLang="zh-CN" dirty="0"/>
              <a:t>-</a:t>
            </a:r>
            <a:r>
              <a:rPr lang="zh-CN" altLang="en-US" dirty="0"/>
              <a:t>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49" y="590424"/>
            <a:ext cx="1064052" cy="376603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10235" y="3235325"/>
            <a:ext cx="7562850" cy="387350"/>
          </a:xfrm>
        </p:spPr>
        <p:txBody>
          <a:bodyPr anchor="ctr" anchorCtr="0">
            <a:noAutofit/>
          </a:bodyPr>
          <a:lstStyle>
            <a:lvl1pPr marL="0" indent="0" defTabSz="914400"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None/>
              <a:defRPr sz="2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defTabSz="914400" fontAlgn="base">
              <a:spcBef>
                <a:spcPts val="300"/>
              </a:spcBef>
              <a:spcAft>
                <a:spcPct val="0"/>
              </a:spcAft>
              <a:buClrTx/>
              <a:buSzPct val="100000"/>
            </a:pPr>
            <a:r>
              <a:rPr lang="zh-CN" altLang="en-US" dirty="0"/>
              <a:t>姓名</a:t>
            </a:r>
            <a:r>
              <a:rPr lang="en-US" altLang="zh-CN" dirty="0"/>
              <a:t>  BU/</a:t>
            </a:r>
            <a:r>
              <a:rPr lang="zh-CN" altLang="en-US" dirty="0"/>
              <a:t>中心</a:t>
            </a:r>
            <a:r>
              <a:rPr lang="en-US" altLang="zh-CN" dirty="0"/>
              <a:t>/</a:t>
            </a:r>
            <a:r>
              <a:rPr lang="zh-CN" altLang="en-US" dirty="0"/>
              <a:t>模块</a:t>
            </a:r>
            <a:r>
              <a:rPr lang="en-US" altLang="zh-CN" dirty="0"/>
              <a:t>_</a:t>
            </a:r>
            <a:r>
              <a:rPr lang="zh-CN" altLang="en-US" dirty="0"/>
              <a:t>部门</a:t>
            </a:r>
          </a:p>
        </p:txBody>
      </p:sp>
    </p:spTree>
    <p:extLst>
      <p:ext uri="{BB962C8B-B14F-4D97-AF65-F5344CB8AC3E}">
        <p14:creationId xmlns:p14="http://schemas.microsoft.com/office/powerpoint/2010/main" val="88712412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/>
          <a:srcRect l="811" r="11417"/>
          <a:stretch>
            <a:fillRect/>
          </a:stretch>
        </p:blipFill>
        <p:spPr>
          <a:xfrm>
            <a:off x="0" y="0"/>
            <a:ext cx="12191365" cy="691515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0" hasCustomPrompt="1"/>
          </p:nvPr>
        </p:nvSpPr>
        <p:spPr>
          <a:xfrm>
            <a:off x="615618" y="2175619"/>
            <a:ext cx="7534861" cy="804985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sz="4000" b="1" u="none" strike="noStrike" kern="1200" cap="none" spc="0" normalizeH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 smtClean="0"/>
              <a:t>请键入标题</a:t>
            </a:r>
            <a:endParaRPr lang="en-US" altLang="zh-CN" dirty="0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1" hasCustomPrompt="1"/>
          </p:nvPr>
        </p:nvSpPr>
        <p:spPr>
          <a:xfrm>
            <a:off x="610235" y="3780790"/>
            <a:ext cx="7562850" cy="387350"/>
          </a:xfrm>
        </p:spPr>
        <p:txBody>
          <a:bodyPr anchor="ctr" anchorCtr="0">
            <a:noAutofit/>
          </a:bodyPr>
          <a:lstStyle>
            <a:lvl1pPr marL="0" indent="0" defTabSz="914400"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None/>
              <a:defRPr sz="2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defTabSz="914400" fontAlgn="base">
              <a:spcBef>
                <a:spcPts val="300"/>
              </a:spcBef>
              <a:spcAft>
                <a:spcPct val="0"/>
              </a:spcAft>
              <a:buClrTx/>
              <a:buSzPct val="100000"/>
            </a:pPr>
            <a:r>
              <a:rPr lang="zh-CN" altLang="en-US" dirty="0" smtClean="0"/>
              <a:t>年</a:t>
            </a:r>
            <a:r>
              <a:rPr lang="en-US" altLang="zh-CN" dirty="0"/>
              <a:t>-</a:t>
            </a:r>
            <a:r>
              <a:rPr lang="zh-CN" altLang="en-US" dirty="0"/>
              <a:t>月</a:t>
            </a:r>
            <a:r>
              <a:rPr lang="en-US" altLang="zh-CN" dirty="0"/>
              <a:t>-</a:t>
            </a:r>
            <a:r>
              <a:rPr lang="zh-CN" altLang="en-US" dirty="0"/>
              <a:t>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49" y="590424"/>
            <a:ext cx="1064052" cy="376603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10235" y="3235325"/>
            <a:ext cx="7562850" cy="387350"/>
          </a:xfrm>
        </p:spPr>
        <p:txBody>
          <a:bodyPr anchor="ctr" anchorCtr="0">
            <a:noAutofit/>
          </a:bodyPr>
          <a:lstStyle>
            <a:lvl1pPr marL="0" indent="0" defTabSz="914400"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ClrTx/>
              <a:buSzPct val="100000"/>
              <a:buNone/>
              <a:defRPr sz="2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defTabSz="914400" fontAlgn="base">
              <a:spcBef>
                <a:spcPts val="300"/>
              </a:spcBef>
              <a:spcAft>
                <a:spcPct val="0"/>
              </a:spcAft>
              <a:buClrTx/>
              <a:buSzPct val="100000"/>
            </a:pPr>
            <a:r>
              <a:rPr lang="zh-CN" altLang="en-US" dirty="0"/>
              <a:t>姓名</a:t>
            </a:r>
            <a:r>
              <a:rPr lang="en-US" altLang="zh-CN" dirty="0"/>
              <a:t>  BU/</a:t>
            </a:r>
            <a:r>
              <a:rPr lang="zh-CN" altLang="en-US" dirty="0"/>
              <a:t>中心</a:t>
            </a:r>
            <a:r>
              <a:rPr lang="en-US" altLang="zh-CN" dirty="0"/>
              <a:t>/</a:t>
            </a:r>
            <a:r>
              <a:rPr lang="zh-CN" altLang="en-US" dirty="0"/>
              <a:t>模块</a:t>
            </a:r>
            <a:r>
              <a:rPr lang="en-US" altLang="zh-CN" dirty="0"/>
              <a:t>_</a:t>
            </a:r>
            <a:r>
              <a:rPr lang="zh-CN" altLang="en-US" dirty="0"/>
              <a:t>部门</a:t>
            </a:r>
          </a:p>
        </p:txBody>
      </p:sp>
    </p:spTree>
    <p:extLst>
      <p:ext uri="{BB962C8B-B14F-4D97-AF65-F5344CB8AC3E}">
        <p14:creationId xmlns:p14="http://schemas.microsoft.com/office/powerpoint/2010/main" val="157337042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905"/>
            <a:ext cx="12192000" cy="6602095"/>
          </a:xfrm>
          <a:prstGeom prst="rect">
            <a:avLst/>
          </a:prstGeom>
        </p:spPr>
      </p:pic>
      <p:sp>
        <p:nvSpPr>
          <p:cNvPr id="87" name="TextBox 2"/>
          <p:cNvSpPr txBox="1"/>
          <p:nvPr userDrawn="1"/>
        </p:nvSpPr>
        <p:spPr>
          <a:xfrm>
            <a:off x="529274" y="506528"/>
            <a:ext cx="284441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54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品牌规范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54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Rectangle 37"/>
          <p:cNvSpPr/>
          <p:nvPr userDrawn="1"/>
        </p:nvSpPr>
        <p:spPr>
          <a:xfrm>
            <a:off x="0" y="668747"/>
            <a:ext cx="393700" cy="45719"/>
          </a:xfrm>
          <a:prstGeom prst="rect">
            <a:avLst/>
          </a:prstGeom>
          <a:solidFill>
            <a:srgbClr val="00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Line 5"/>
          <p:cNvSpPr>
            <a:spLocks noChangeShapeType="1"/>
          </p:cNvSpPr>
          <p:nvPr userDrawn="1"/>
        </p:nvSpPr>
        <p:spPr bwMode="auto">
          <a:xfrm flipV="1">
            <a:off x="421410" y="1182727"/>
            <a:ext cx="11337514" cy="1549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 flipH="1">
            <a:off x="502647" y="1097252"/>
            <a:ext cx="17408" cy="5342672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Line 5"/>
          <p:cNvSpPr>
            <a:spLocks noChangeShapeType="1"/>
          </p:cNvSpPr>
          <p:nvPr userDrawn="1"/>
        </p:nvSpPr>
        <p:spPr bwMode="auto">
          <a:xfrm flipV="1">
            <a:off x="410326" y="6322250"/>
            <a:ext cx="11337514" cy="1549"/>
          </a:xfrm>
          <a:prstGeom prst="line">
            <a:avLst/>
          </a:prstGeom>
          <a:ln w="127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Line 5"/>
          <p:cNvSpPr>
            <a:spLocks noChangeShapeType="1"/>
          </p:cNvSpPr>
          <p:nvPr userDrawn="1"/>
        </p:nvSpPr>
        <p:spPr bwMode="auto">
          <a:xfrm flipH="1">
            <a:off x="11638821" y="1091529"/>
            <a:ext cx="17408" cy="5342672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" name="直接箭头连接符 2"/>
          <p:cNvCxnSpPr/>
          <p:nvPr userDrawn="1"/>
        </p:nvCxnSpPr>
        <p:spPr>
          <a:xfrm>
            <a:off x="-12063" y="1362636"/>
            <a:ext cx="53704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-135574" y="1370278"/>
            <a:ext cx="75841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1.5CM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安全区域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0" name="直接箭头连接符 19"/>
          <p:cNvCxnSpPr/>
          <p:nvPr userDrawn="1"/>
        </p:nvCxnSpPr>
        <p:spPr>
          <a:xfrm>
            <a:off x="11656229" y="5924714"/>
            <a:ext cx="535771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 userDrawn="1"/>
        </p:nvSpPr>
        <p:spPr>
          <a:xfrm>
            <a:off x="11525100" y="5943917"/>
            <a:ext cx="75841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1.5CM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安全区域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" name="直接箭头连接符 21"/>
          <p:cNvCxnSpPr/>
          <p:nvPr userDrawn="1"/>
        </p:nvCxnSpPr>
        <p:spPr>
          <a:xfrm>
            <a:off x="6096000" y="6363151"/>
            <a:ext cx="0" cy="467954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 userDrawn="1"/>
        </p:nvSpPr>
        <p:spPr>
          <a:xfrm>
            <a:off x="5980689" y="6439202"/>
            <a:ext cx="75841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1.5CM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安全区域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387" y="357252"/>
            <a:ext cx="1007358" cy="200076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597534" y="1271674"/>
            <a:ext cx="1115030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一般情况下，请使用标准版幻灯片模板。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如有涉及到不同等级的商业秘密信息展示，请根据信息安全管理要求，选择使用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Strictly Confidential / Confidential / For Internal Only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/ Public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等版本。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在运用字体颜色时，请采用如下的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RGB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色彩规定：（可通过模板右侧的吸管直接抓取所需颜色使用）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标准色：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R0 G84 B162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（西威蓝）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辅助色：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R15 G51 B94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（深蓝）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R97 G140 B200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（浅蓝）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R0 G185 B231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（浅青）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R113 G113 B113 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（深灰）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R255 G255 B255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（纯白）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在运用字体时，中文请使用微软雅黑，西文请使用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Arial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；在对外宣传时，要求限定仅使用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Light/Regular/Bold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这三类字重。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在运用图片时，请确保置于图片上的文字清晰可读；在对外宣传时，要求使用版权素材，避免给公司带来不必要的风险。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为能更专业、有序地呈现观点，请在安全区域内编辑正文；如总页数有变更时，请留意通过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【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视图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】-【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幻灯片母版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】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总页码所在位置修改总页码数。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尽管在幻灯片中坚持视觉一致是非常重要的，我们在使用时也需要保持一定的灵活性。在不超出视觉识别系统规定的运用情况下，时刻围绕“创领智行”的品牌主张传递价值。通过您的精彩展示，给人以深刻印象。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349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sym typeface="微软雅黑" panose="020B0503020204020204" pitchFamily="34" charset="-122"/>
              </a:rPr>
              <a:t>本页中的原则适用于所有德赛西威的幻灯片应用设计。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Rectangle 3"/>
          <p:cNvSpPr/>
          <p:nvPr userDrawn="1"/>
        </p:nvSpPr>
        <p:spPr>
          <a:xfrm>
            <a:off x="8096596" y="-1"/>
            <a:ext cx="2375824" cy="25590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bIns="1441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线上会议对话条放置区域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59945" y="640600"/>
            <a:ext cx="1032510" cy="5488940"/>
            <a:chOff x="19307" y="747"/>
            <a:chExt cx="1626" cy="8644"/>
          </a:xfrm>
        </p:grpSpPr>
        <p:sp>
          <p:nvSpPr>
            <p:cNvPr id="36" name="矩形 35"/>
            <p:cNvSpPr/>
            <p:nvPr userDrawn="1"/>
          </p:nvSpPr>
          <p:spPr>
            <a:xfrm>
              <a:off x="19429" y="8338"/>
              <a:ext cx="1372" cy="10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9429" y="5820"/>
              <a:ext cx="1372" cy="1101"/>
            </a:xfrm>
            <a:prstGeom prst="rect">
              <a:avLst/>
            </a:prstGeom>
            <a:solidFill>
              <a:srgbClr val="00B9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9429" y="7079"/>
              <a:ext cx="1372" cy="1101"/>
            </a:xfrm>
            <a:prstGeom prst="rect">
              <a:avLst/>
            </a:prstGeom>
            <a:solidFill>
              <a:srgbClr val="71717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19429" y="4561"/>
              <a:ext cx="1372" cy="1101"/>
            </a:xfrm>
            <a:prstGeom prst="rect">
              <a:avLst/>
            </a:prstGeom>
            <a:solidFill>
              <a:srgbClr val="618C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19429" y="3302"/>
              <a:ext cx="1372" cy="1101"/>
            </a:xfrm>
            <a:prstGeom prst="rect">
              <a:avLst/>
            </a:prstGeom>
            <a:solidFill>
              <a:srgbClr val="0F335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19429" y="1586"/>
              <a:ext cx="1372" cy="1557"/>
            </a:xfrm>
            <a:prstGeom prst="rect">
              <a:avLst/>
            </a:prstGeom>
            <a:solidFill>
              <a:srgbClr val="0054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4" name="组合 23"/>
            <p:cNvGrpSpPr/>
            <p:nvPr userDrawn="1"/>
          </p:nvGrpSpPr>
          <p:grpSpPr>
            <a:xfrm>
              <a:off x="19307" y="747"/>
              <a:ext cx="1591" cy="8384"/>
              <a:chOff x="9221352" y="-535768"/>
              <a:chExt cx="1017584" cy="4736201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9397383" y="254540"/>
                <a:ext cx="841553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标准色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396569" y="1081568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辅助色</a:t>
                </a:r>
                <a:endPara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9221352" y="-535768"/>
                <a:ext cx="953858" cy="41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可用吸管工具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吸取</a:t>
                </a: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下列颜色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按需对应</a:t>
                </a: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使用</a:t>
                </a: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9396569" y="1780926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396569" y="2480284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9396569" y="3214666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9396569" y="3927582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</p:grpSp>
        <p:pic>
          <p:nvPicPr>
            <p:cNvPr id="8" name="图片 7" descr="滴管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9" y="931"/>
              <a:ext cx="414" cy="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822269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255905"/>
            <a:ext cx="12192000" cy="6602095"/>
          </a:xfrm>
          <a:prstGeom prst="rect">
            <a:avLst/>
          </a:prstGeom>
        </p:spPr>
      </p:pic>
      <p:sp>
        <p:nvSpPr>
          <p:cNvPr id="87" name="TextBox 2"/>
          <p:cNvSpPr txBox="1"/>
          <p:nvPr userDrawn="1"/>
        </p:nvSpPr>
        <p:spPr>
          <a:xfrm>
            <a:off x="584590" y="486175"/>
            <a:ext cx="284441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54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目录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54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Rectangle 37"/>
          <p:cNvSpPr/>
          <p:nvPr userDrawn="1"/>
        </p:nvSpPr>
        <p:spPr>
          <a:xfrm>
            <a:off x="0" y="668747"/>
            <a:ext cx="393700" cy="45719"/>
          </a:xfrm>
          <a:prstGeom prst="rect">
            <a:avLst/>
          </a:prstGeom>
          <a:solidFill>
            <a:srgbClr val="00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387" y="357252"/>
            <a:ext cx="1007358" cy="200076"/>
          </a:xfrm>
          <a:prstGeom prst="rect">
            <a:avLst/>
          </a:prstGeom>
        </p:spPr>
      </p:pic>
      <p:grpSp>
        <p:nvGrpSpPr>
          <p:cNvPr id="28" name="组合 27"/>
          <p:cNvGrpSpPr/>
          <p:nvPr userDrawn="1"/>
        </p:nvGrpSpPr>
        <p:grpSpPr>
          <a:xfrm>
            <a:off x="12259945" y="640600"/>
            <a:ext cx="1032510" cy="5488940"/>
            <a:chOff x="19307" y="747"/>
            <a:chExt cx="1626" cy="8644"/>
          </a:xfrm>
        </p:grpSpPr>
        <p:sp>
          <p:nvSpPr>
            <p:cNvPr id="29" name="矩形 28"/>
            <p:cNvSpPr/>
            <p:nvPr userDrawn="1"/>
          </p:nvSpPr>
          <p:spPr>
            <a:xfrm>
              <a:off x="19429" y="8338"/>
              <a:ext cx="1372" cy="10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矩形 30"/>
            <p:cNvSpPr/>
            <p:nvPr userDrawn="1"/>
          </p:nvSpPr>
          <p:spPr>
            <a:xfrm>
              <a:off x="19429" y="5820"/>
              <a:ext cx="1372" cy="1101"/>
            </a:xfrm>
            <a:prstGeom prst="rect">
              <a:avLst/>
            </a:prstGeom>
            <a:solidFill>
              <a:srgbClr val="00B9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矩形 32"/>
            <p:cNvSpPr/>
            <p:nvPr userDrawn="1"/>
          </p:nvSpPr>
          <p:spPr>
            <a:xfrm>
              <a:off x="19429" y="7079"/>
              <a:ext cx="1372" cy="1101"/>
            </a:xfrm>
            <a:prstGeom prst="rect">
              <a:avLst/>
            </a:prstGeom>
            <a:solidFill>
              <a:srgbClr val="71717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19429" y="4561"/>
              <a:ext cx="1372" cy="1101"/>
            </a:xfrm>
            <a:prstGeom prst="rect">
              <a:avLst/>
            </a:prstGeom>
            <a:solidFill>
              <a:srgbClr val="618C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19429" y="3302"/>
              <a:ext cx="1372" cy="1101"/>
            </a:xfrm>
            <a:prstGeom prst="rect">
              <a:avLst/>
            </a:prstGeom>
            <a:solidFill>
              <a:srgbClr val="0F335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19429" y="1586"/>
              <a:ext cx="1372" cy="1557"/>
            </a:xfrm>
            <a:prstGeom prst="rect">
              <a:avLst/>
            </a:prstGeom>
            <a:solidFill>
              <a:srgbClr val="0054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42" name="组合 41"/>
            <p:cNvGrpSpPr/>
            <p:nvPr userDrawn="1"/>
          </p:nvGrpSpPr>
          <p:grpSpPr>
            <a:xfrm>
              <a:off x="19307" y="747"/>
              <a:ext cx="1591" cy="8384"/>
              <a:chOff x="9221352" y="-535768"/>
              <a:chExt cx="1017584" cy="4736201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9397383" y="254540"/>
                <a:ext cx="841553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标准色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396569" y="1081568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辅助色</a:t>
                </a:r>
                <a:endPara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9221352" y="-535768"/>
                <a:ext cx="953858" cy="41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可用吸管工具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吸取</a:t>
                </a: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下列颜色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按需对应</a:t>
                </a: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使用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9396569" y="1780926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9396569" y="2480284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9396569" y="3214666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396569" y="3927582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</p:grpSp>
        <p:pic>
          <p:nvPicPr>
            <p:cNvPr id="43" name="图片 42" descr="滴管"/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519" y="931"/>
              <a:ext cx="414" cy="414"/>
            </a:xfrm>
            <a:prstGeom prst="rect">
              <a:avLst/>
            </a:prstGeom>
          </p:spPr>
        </p:pic>
      </p:grpSp>
      <p:sp>
        <p:nvSpPr>
          <p:cNvPr id="7" name="文本占位符 6"/>
          <p:cNvSpPr>
            <a:spLocks noGrp="1"/>
          </p:cNvSpPr>
          <p:nvPr>
            <p:ph type="body" idx="11" hasCustomPrompt="1"/>
            <p:custDataLst>
              <p:tags r:id="rId1"/>
            </p:custDataLst>
          </p:nvPr>
        </p:nvSpPr>
        <p:spPr>
          <a:xfrm>
            <a:off x="1283335" y="1372870"/>
            <a:ext cx="9402445" cy="38989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u="none" strike="noStrike" kern="1200" cap="none" spc="0" normalizeH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点击编辑关键信息</a:t>
            </a:r>
            <a:endParaRPr lang="en-US" altLang="zh-CN" dirty="0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3" hasCustomPrompt="1"/>
            <p:custDataLst>
              <p:tags r:id="rId2"/>
            </p:custDataLst>
          </p:nvPr>
        </p:nvSpPr>
        <p:spPr>
          <a:xfrm>
            <a:off x="1283335" y="2408555"/>
            <a:ext cx="9402445" cy="38989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u="none" strike="noStrike" kern="1200" cap="none" spc="0" normalizeH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点击编辑关键信息</a:t>
            </a:r>
            <a:endParaRPr lang="en-US" altLang="zh-CN" dirty="0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4" hasCustomPrompt="1"/>
            <p:custDataLst>
              <p:tags r:id="rId3"/>
            </p:custDataLst>
          </p:nvPr>
        </p:nvSpPr>
        <p:spPr>
          <a:xfrm>
            <a:off x="1283335" y="4519295"/>
            <a:ext cx="9402445" cy="38989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u="none" strike="noStrike" kern="1200" cap="none" spc="0" normalizeH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点击编辑关键信息</a:t>
            </a:r>
            <a:endParaRPr lang="en-US" altLang="zh-CN" dirty="0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1283335" y="5588000"/>
            <a:ext cx="9402445" cy="38989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u="none" strike="noStrike" kern="1200" cap="none" spc="0" normalizeH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点击编辑关键信息</a:t>
            </a:r>
            <a:endParaRPr lang="en-US" altLang="zh-CN" dirty="0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" hasCustomPrompt="1"/>
            <p:custDataLst>
              <p:tags r:id="rId5"/>
            </p:custDataLst>
          </p:nvPr>
        </p:nvSpPr>
        <p:spPr>
          <a:xfrm>
            <a:off x="1283335" y="3450590"/>
            <a:ext cx="9402445" cy="38989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u="none" strike="noStrike" kern="1200" cap="none" spc="0" normalizeH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点击编辑关键信息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580607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7"/>
          <p:cNvSpPr/>
          <p:nvPr userDrawn="1"/>
        </p:nvSpPr>
        <p:spPr>
          <a:xfrm>
            <a:off x="0" y="668747"/>
            <a:ext cx="393700" cy="45719"/>
          </a:xfrm>
          <a:prstGeom prst="rect">
            <a:avLst/>
          </a:prstGeom>
          <a:solidFill>
            <a:srgbClr val="00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10" hasCustomPrompt="1"/>
          </p:nvPr>
        </p:nvSpPr>
        <p:spPr>
          <a:xfrm>
            <a:off x="581342" y="1633855"/>
            <a:ext cx="11028768" cy="4674235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400" u="none" strike="noStrike" kern="1200" cap="none" spc="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点击编辑正文</a:t>
            </a:r>
            <a:endParaRPr lang="en-US" altLang="zh-CN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1" hasCustomPrompt="1"/>
          </p:nvPr>
        </p:nvSpPr>
        <p:spPr>
          <a:xfrm>
            <a:off x="581342" y="1152329"/>
            <a:ext cx="11028767" cy="3896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u="none" strike="noStrike" kern="1200" cap="none" spc="0" normalizeH="0">
                <a:solidFill>
                  <a:srgbClr val="00B9E7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点击编辑关键信息</a:t>
            </a:r>
            <a:endParaRPr lang="en-US" altLang="zh-CN" dirty="0" smtClean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387" y="357252"/>
            <a:ext cx="1007358" cy="200076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2259945" y="640600"/>
            <a:ext cx="1032510" cy="5488940"/>
            <a:chOff x="19307" y="747"/>
            <a:chExt cx="1626" cy="8644"/>
          </a:xfrm>
        </p:grpSpPr>
        <p:sp>
          <p:nvSpPr>
            <p:cNvPr id="30" name="矩形 29"/>
            <p:cNvSpPr/>
            <p:nvPr userDrawn="1"/>
          </p:nvSpPr>
          <p:spPr>
            <a:xfrm>
              <a:off x="19429" y="8338"/>
              <a:ext cx="1372" cy="10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矩形 30"/>
            <p:cNvSpPr/>
            <p:nvPr userDrawn="1"/>
          </p:nvSpPr>
          <p:spPr>
            <a:xfrm>
              <a:off x="19429" y="5820"/>
              <a:ext cx="1372" cy="1101"/>
            </a:xfrm>
            <a:prstGeom prst="rect">
              <a:avLst/>
            </a:prstGeom>
            <a:solidFill>
              <a:srgbClr val="00B9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矩形 32"/>
            <p:cNvSpPr/>
            <p:nvPr userDrawn="1"/>
          </p:nvSpPr>
          <p:spPr>
            <a:xfrm>
              <a:off x="19429" y="7079"/>
              <a:ext cx="1372" cy="1101"/>
            </a:xfrm>
            <a:prstGeom prst="rect">
              <a:avLst/>
            </a:prstGeom>
            <a:solidFill>
              <a:srgbClr val="71717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19429" y="4561"/>
              <a:ext cx="1372" cy="1101"/>
            </a:xfrm>
            <a:prstGeom prst="rect">
              <a:avLst/>
            </a:prstGeom>
            <a:solidFill>
              <a:srgbClr val="618C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19429" y="3302"/>
              <a:ext cx="1372" cy="1101"/>
            </a:xfrm>
            <a:prstGeom prst="rect">
              <a:avLst/>
            </a:prstGeom>
            <a:solidFill>
              <a:srgbClr val="0F335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矩形 40"/>
            <p:cNvSpPr/>
            <p:nvPr userDrawn="1"/>
          </p:nvSpPr>
          <p:spPr>
            <a:xfrm>
              <a:off x="19429" y="1586"/>
              <a:ext cx="1372" cy="1557"/>
            </a:xfrm>
            <a:prstGeom prst="rect">
              <a:avLst/>
            </a:prstGeom>
            <a:solidFill>
              <a:srgbClr val="0054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42" name="组合 41"/>
            <p:cNvGrpSpPr/>
            <p:nvPr userDrawn="1"/>
          </p:nvGrpSpPr>
          <p:grpSpPr>
            <a:xfrm>
              <a:off x="19307" y="747"/>
              <a:ext cx="1591" cy="8384"/>
              <a:chOff x="9221352" y="-535768"/>
              <a:chExt cx="1017584" cy="4736201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9397383" y="254540"/>
                <a:ext cx="841553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标准色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396569" y="1081568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辅助色</a:t>
                </a:r>
                <a:endParaRPr kumimoji="0" lang="zh-CN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9221352" y="-535768"/>
                <a:ext cx="953858" cy="41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可用吸管工具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吸取</a:t>
                </a: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下列颜色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按需对应</a:t>
                </a:r>
                <a:r>
                  <a:rPr kumimoji="0" lang="zh-CN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4A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使用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9396569" y="1780926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9396569" y="2480284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9396569" y="3214666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396569" y="3927582"/>
                <a:ext cx="778884" cy="27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辅助色</a:t>
                </a:r>
              </a:p>
            </p:txBody>
          </p:sp>
        </p:grpSp>
        <p:pic>
          <p:nvPicPr>
            <p:cNvPr id="43" name="图片 42" descr="滴管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19" y="931"/>
              <a:ext cx="414" cy="414"/>
            </a:xfrm>
            <a:prstGeom prst="rect">
              <a:avLst/>
            </a:prstGeom>
          </p:spPr>
        </p:pic>
      </p:grpSp>
      <p:sp>
        <p:nvSpPr>
          <p:cNvPr id="3" name="文本占位符 2"/>
          <p:cNvSpPr>
            <a:spLocks noGrp="1"/>
          </p:cNvSpPr>
          <p:nvPr>
            <p:ph type="body" idx="12" hasCustomPrompt="1"/>
            <p:custDataLst>
              <p:tags r:id="rId1"/>
            </p:custDataLst>
          </p:nvPr>
        </p:nvSpPr>
        <p:spPr>
          <a:xfrm>
            <a:off x="584835" y="382846"/>
            <a:ext cx="5760085" cy="638763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0054A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点击编辑标题（最多两行</a:t>
            </a:r>
            <a:r>
              <a:rPr lang="en-US" altLang="zh-C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447189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定稿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635"/>
            <a:ext cx="12192000" cy="6859270"/>
          </a:xfrm>
          <a:prstGeom prst="rect">
            <a:avLst/>
          </a:prstGeom>
        </p:spPr>
      </p:pic>
      <p:sp>
        <p:nvSpPr>
          <p:cNvPr id="10" name="Rectangle 18"/>
          <p:cNvSpPr/>
          <p:nvPr userDrawn="1"/>
        </p:nvSpPr>
        <p:spPr>
          <a:xfrm>
            <a:off x="0" y="0"/>
            <a:ext cx="7879080" cy="6858000"/>
          </a:xfrm>
          <a:prstGeom prst="rect">
            <a:avLst/>
          </a:prstGeom>
          <a:gradFill flip="none" rotWithShape="1">
            <a:gsLst>
              <a:gs pos="0">
                <a:srgbClr val="0F335E"/>
              </a:gs>
              <a:gs pos="100000">
                <a:srgbClr val="0F335E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56843" y="4669781"/>
            <a:ext cx="1562101" cy="13542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微信公众号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2671319" y="4700347"/>
            <a:ext cx="1184910" cy="1352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官方网站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49" y="590424"/>
            <a:ext cx="1064052" cy="376603"/>
          </a:xfrm>
          <a:prstGeom prst="rect">
            <a:avLst/>
          </a:prstGeom>
        </p:spPr>
      </p:pic>
      <p:grpSp>
        <p:nvGrpSpPr>
          <p:cNvPr id="4" name="Group 16"/>
          <p:cNvGrpSpPr/>
          <p:nvPr userDrawn="1">
            <p:custDataLst>
              <p:tags r:id="rId1"/>
            </p:custDataLst>
          </p:nvPr>
        </p:nvGrpSpPr>
        <p:grpSpPr>
          <a:xfrm>
            <a:off x="479219" y="4982525"/>
            <a:ext cx="3128964" cy="1304609"/>
            <a:chOff x="479854" y="4982525"/>
            <a:chExt cx="3128964" cy="1304609"/>
          </a:xfrm>
        </p:grpSpPr>
        <p:sp>
          <p:nvSpPr>
            <p:cNvPr id="20" name="Rectangle: Rounded Corners 4"/>
            <p:cNvSpPr/>
            <p:nvPr>
              <p:custDataLst>
                <p:tags r:id="rId3"/>
              </p:custDataLst>
            </p:nvPr>
          </p:nvSpPr>
          <p:spPr>
            <a:xfrm>
              <a:off x="479854" y="4983160"/>
              <a:ext cx="1303974" cy="1303974"/>
            </a:xfrm>
            <a:prstGeom prst="roundRect">
              <a:avLst>
                <a:gd name="adj" fmla="val 734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Rectangle: Rounded Corners 4"/>
            <p:cNvSpPr/>
            <p:nvPr>
              <p:custDataLst>
                <p:tags r:id="rId4"/>
              </p:custDataLst>
            </p:nvPr>
          </p:nvSpPr>
          <p:spPr>
            <a:xfrm>
              <a:off x="2304844" y="4982525"/>
              <a:ext cx="1303974" cy="1303974"/>
            </a:xfrm>
            <a:prstGeom prst="roundRect">
              <a:avLst>
                <a:gd name="adj" fmla="val 734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6" name="Picture 15" descr="H:/0D德赛西威/德赛西威公众号.png德赛西威公众号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rcRect t="27" b="27"/>
            <a:stretch>
              <a:fillRect/>
            </a:stretch>
          </p:blipFill>
          <p:spPr>
            <a:xfrm>
              <a:off x="574469" y="5098095"/>
              <a:ext cx="1121410" cy="1121410"/>
            </a:xfrm>
            <a:prstGeom prst="rect">
              <a:avLst/>
            </a:prstGeom>
          </p:spPr>
        </p:pic>
      </p:grpSp>
      <p:pic>
        <p:nvPicPr>
          <p:cNvPr id="9" name="Picture 6" descr="H:/0D德赛西威/德赛西威公司网站.png德赛西威公司网站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rcRect t="27" b="27"/>
          <a:stretch>
            <a:fillRect/>
          </a:stretch>
        </p:blipFill>
        <p:spPr>
          <a:xfrm>
            <a:off x="2415178" y="5102540"/>
            <a:ext cx="1082675" cy="1082675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471170" y="2198370"/>
            <a:ext cx="356235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智慧出行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454785" y="2881630"/>
            <a:ext cx="279019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全球共享</a:t>
            </a:r>
          </a:p>
        </p:txBody>
      </p:sp>
    </p:spTree>
    <p:extLst>
      <p:ext uri="{BB962C8B-B14F-4D97-AF65-F5344CB8AC3E}">
        <p14:creationId xmlns:p14="http://schemas.microsoft.com/office/powerpoint/2010/main" val="1937966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15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FAD95-1126-4ADF-9369-F65AABEACB2A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52ABF-4C91-41D7-8FDF-1609DB8CD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30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8635" y="608330"/>
            <a:ext cx="1117536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母版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509270" y="1490345"/>
            <a:ext cx="11174095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4"/>
            <a:r>
              <a:rPr lang="zh-CN" altLang="en-US" dirty="0"/>
              <a:t>在这里修改总页码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11250295" y="6426200"/>
            <a:ext cx="65913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en-US" altLang="zh-CN" sz="800" b="1" i="0" u="none" strike="noStrike" kern="1200" cap="none" spc="0" normalizeH="0" baseline="0" noProof="0" smtClean="0">
                <a:ln>
                  <a:noFill/>
                </a:ln>
                <a:solidFill>
                  <a:srgbClr val="0054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54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/8</a:t>
            </a: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rgbClr val="0054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Group 6"/>
          <p:cNvGrpSpPr/>
          <p:nvPr userDrawn="1"/>
        </p:nvGrpSpPr>
        <p:grpSpPr>
          <a:xfrm>
            <a:off x="570259" y="6524305"/>
            <a:ext cx="1385593" cy="123111"/>
            <a:chOff x="417238" y="6466001"/>
            <a:chExt cx="1385593" cy="123111"/>
          </a:xfrm>
        </p:grpSpPr>
        <p:sp>
          <p:nvSpPr>
            <p:cNvPr id="8" name="TextBox 7"/>
            <p:cNvSpPr txBox="1"/>
            <p:nvPr/>
          </p:nvSpPr>
          <p:spPr>
            <a:xfrm>
              <a:off x="581343" y="6466001"/>
              <a:ext cx="122148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No </a:t>
              </a:r>
              <a:r>
                <a:rPr kumimoji="0" lang="en-US" sz="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Photos 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/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Confidential</a:t>
              </a:r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417238" y="6473556"/>
              <a:ext cx="108000" cy="108000"/>
            </a:xfrm>
            <a:custGeom>
              <a:avLst/>
              <a:gdLst>
                <a:gd name="connsiteX0" fmla="*/ 598311 w 914005"/>
                <a:gd name="connsiteY0" fmla="*/ 800548 h 933054"/>
                <a:gd name="connsiteX1" fmla="*/ 620189 w 914005"/>
                <a:gd name="connsiteY1" fmla="*/ 822426 h 933054"/>
                <a:gd name="connsiteX2" fmla="*/ 598311 w 914005"/>
                <a:gd name="connsiteY2" fmla="*/ 844304 h 933054"/>
                <a:gd name="connsiteX3" fmla="*/ 21896 w 914005"/>
                <a:gd name="connsiteY3" fmla="*/ 844304 h 933054"/>
                <a:gd name="connsiteX4" fmla="*/ 18 w 914005"/>
                <a:gd name="connsiteY4" fmla="*/ 822426 h 933054"/>
                <a:gd name="connsiteX5" fmla="*/ 18 w 914005"/>
                <a:gd name="connsiteY5" fmla="*/ 246011 h 933054"/>
                <a:gd name="connsiteX6" fmla="*/ 21896 w 914005"/>
                <a:gd name="connsiteY6" fmla="*/ 224133 h 933054"/>
                <a:gd name="connsiteX7" fmla="*/ 43774 w 914005"/>
                <a:gd name="connsiteY7" fmla="*/ 246011 h 933054"/>
                <a:gd name="connsiteX8" fmla="*/ 43774 w 914005"/>
                <a:gd name="connsiteY8" fmla="*/ 800585 h 933054"/>
                <a:gd name="connsiteX9" fmla="*/ 598348 w 914005"/>
                <a:gd name="connsiteY9" fmla="*/ 800585 h 933054"/>
                <a:gd name="connsiteX10" fmla="*/ 6418 w 914005"/>
                <a:gd name="connsiteY10" fmla="*/ 56369 h 933054"/>
                <a:gd name="connsiteX11" fmla="*/ 6418 w 914005"/>
                <a:gd name="connsiteY11" fmla="*/ 25450 h 933054"/>
                <a:gd name="connsiteX12" fmla="*/ 37337 w 914005"/>
                <a:gd name="connsiteY12" fmla="*/ 25450 h 933054"/>
                <a:gd name="connsiteX13" fmla="*/ 119676 w 914005"/>
                <a:gd name="connsiteY13" fmla="*/ 107789 h 933054"/>
                <a:gd name="connsiteX14" fmla="*/ 225899 w 914005"/>
                <a:gd name="connsiteY14" fmla="*/ 107789 h 933054"/>
                <a:gd name="connsiteX15" fmla="*/ 250605 w 914005"/>
                <a:gd name="connsiteY15" fmla="*/ 16222 h 933054"/>
                <a:gd name="connsiteX16" fmla="*/ 271739 w 914005"/>
                <a:gd name="connsiteY16" fmla="*/ 37 h 933054"/>
                <a:gd name="connsiteX17" fmla="*/ 271739 w 914005"/>
                <a:gd name="connsiteY17" fmla="*/ 0 h 933054"/>
                <a:gd name="connsiteX18" fmla="*/ 642242 w 914005"/>
                <a:gd name="connsiteY18" fmla="*/ 0 h 933054"/>
                <a:gd name="connsiteX19" fmla="*/ 663637 w 914005"/>
                <a:gd name="connsiteY19" fmla="*/ 17338 h 933054"/>
                <a:gd name="connsiteX20" fmla="*/ 688044 w 914005"/>
                <a:gd name="connsiteY20" fmla="*/ 107789 h 933054"/>
                <a:gd name="connsiteX21" fmla="*/ 892127 w 914005"/>
                <a:gd name="connsiteY21" fmla="*/ 107789 h 933054"/>
                <a:gd name="connsiteX22" fmla="*/ 914005 w 914005"/>
                <a:gd name="connsiteY22" fmla="*/ 129667 h 933054"/>
                <a:gd name="connsiteX23" fmla="*/ 914005 w 914005"/>
                <a:gd name="connsiteY23" fmla="*/ 822420 h 933054"/>
                <a:gd name="connsiteX24" fmla="*/ 892127 w 914005"/>
                <a:gd name="connsiteY24" fmla="*/ 844298 h 933054"/>
                <a:gd name="connsiteX25" fmla="*/ 856148 w 914005"/>
                <a:gd name="connsiteY25" fmla="*/ 844298 h 933054"/>
                <a:gd name="connsiteX26" fmla="*/ 907568 w 914005"/>
                <a:gd name="connsiteY26" fmla="*/ 895718 h 933054"/>
                <a:gd name="connsiteX27" fmla="*/ 907568 w 914005"/>
                <a:gd name="connsiteY27" fmla="*/ 926637 h 933054"/>
                <a:gd name="connsiteX28" fmla="*/ 876649 w 914005"/>
                <a:gd name="connsiteY28" fmla="*/ 926637 h 933054"/>
                <a:gd name="connsiteX29" fmla="*/ 6340 w 914005"/>
                <a:gd name="connsiteY29" fmla="*/ 56328 h 933054"/>
                <a:gd name="connsiteX30" fmla="*/ 163428 w 914005"/>
                <a:gd name="connsiteY30" fmla="*/ 151545 h 933054"/>
                <a:gd name="connsiteX31" fmla="*/ 297407 w 914005"/>
                <a:gd name="connsiteY31" fmla="*/ 285523 h 933054"/>
                <a:gd name="connsiteX32" fmla="*/ 362036 w 914005"/>
                <a:gd name="connsiteY32" fmla="*/ 246381 h 933054"/>
                <a:gd name="connsiteX33" fmla="*/ 457026 w 914005"/>
                <a:gd name="connsiteY33" fmla="*/ 227480 h 933054"/>
                <a:gd name="connsiteX34" fmla="*/ 632753 w 914005"/>
                <a:gd name="connsiteY34" fmla="*/ 300294 h 933054"/>
                <a:gd name="connsiteX35" fmla="*/ 705567 w 914005"/>
                <a:gd name="connsiteY35" fmla="*/ 476021 h 933054"/>
                <a:gd name="connsiteX36" fmla="*/ 686702 w 914005"/>
                <a:gd name="connsiteY36" fmla="*/ 570973 h 933054"/>
                <a:gd name="connsiteX37" fmla="*/ 647560 w 914005"/>
                <a:gd name="connsiteY37" fmla="*/ 635602 h 933054"/>
                <a:gd name="connsiteX38" fmla="*/ 812457 w 914005"/>
                <a:gd name="connsiteY38" fmla="*/ 800499 h 933054"/>
                <a:gd name="connsiteX39" fmla="*/ 870277 w 914005"/>
                <a:gd name="connsiteY39" fmla="*/ 800499 h 933054"/>
                <a:gd name="connsiteX40" fmla="*/ 870277 w 914005"/>
                <a:gd name="connsiteY40" fmla="*/ 151494 h 933054"/>
                <a:gd name="connsiteX41" fmla="*/ 671366 w 914005"/>
                <a:gd name="connsiteY41" fmla="*/ 151494 h 933054"/>
                <a:gd name="connsiteX42" fmla="*/ 671366 w 914005"/>
                <a:gd name="connsiteY42" fmla="*/ 151457 h 933054"/>
                <a:gd name="connsiteX43" fmla="*/ 650232 w 914005"/>
                <a:gd name="connsiteY43" fmla="*/ 135272 h 933054"/>
                <a:gd name="connsiteX44" fmla="*/ 625526 w 914005"/>
                <a:gd name="connsiteY44" fmla="*/ 43705 h 933054"/>
                <a:gd name="connsiteX45" fmla="*/ 288465 w 914005"/>
                <a:gd name="connsiteY45" fmla="*/ 43705 h 933054"/>
                <a:gd name="connsiteX46" fmla="*/ 264057 w 914005"/>
                <a:gd name="connsiteY46" fmla="*/ 134156 h 933054"/>
                <a:gd name="connsiteX47" fmla="*/ 242663 w 914005"/>
                <a:gd name="connsiteY47" fmla="*/ 151494 h 933054"/>
                <a:gd name="connsiteX48" fmla="*/ 163412 w 914005"/>
                <a:gd name="connsiteY48" fmla="*/ 151494 h 933054"/>
                <a:gd name="connsiteX49" fmla="*/ 328439 w 914005"/>
                <a:gd name="connsiteY49" fmla="*/ 316556 h 933054"/>
                <a:gd name="connsiteX50" fmla="*/ 616494 w 914005"/>
                <a:gd name="connsiteY50" fmla="*/ 604611 h 933054"/>
                <a:gd name="connsiteX51" fmla="*/ 646372 w 914005"/>
                <a:gd name="connsiteY51" fmla="*/ 554456 h 933054"/>
                <a:gd name="connsiteX52" fmla="*/ 661813 w 914005"/>
                <a:gd name="connsiteY52" fmla="*/ 476061 h 933054"/>
                <a:gd name="connsiteX53" fmla="*/ 601835 w 914005"/>
                <a:gd name="connsiteY53" fmla="*/ 331214 h 933054"/>
                <a:gd name="connsiteX54" fmla="*/ 456988 w 914005"/>
                <a:gd name="connsiteY54" fmla="*/ 271236 h 933054"/>
                <a:gd name="connsiteX55" fmla="*/ 378592 w 914005"/>
                <a:gd name="connsiteY55" fmla="*/ 286677 h 933054"/>
                <a:gd name="connsiteX56" fmla="*/ 328438 w 914005"/>
                <a:gd name="connsiteY56" fmla="*/ 316554 h 933054"/>
                <a:gd name="connsiteX57" fmla="*/ 475782 w 914005"/>
                <a:gd name="connsiteY57" fmla="*/ 680106 h 933054"/>
                <a:gd name="connsiteX58" fmla="*/ 499371 w 914005"/>
                <a:gd name="connsiteY58" fmla="*/ 699900 h 933054"/>
                <a:gd name="connsiteX59" fmla="*/ 479540 w 914005"/>
                <a:gd name="connsiteY59" fmla="*/ 723490 h 933054"/>
                <a:gd name="connsiteX60" fmla="*/ 468266 w 914005"/>
                <a:gd name="connsiteY60" fmla="*/ 724308 h 933054"/>
                <a:gd name="connsiteX61" fmla="*/ 456993 w 914005"/>
                <a:gd name="connsiteY61" fmla="*/ 724606 h 933054"/>
                <a:gd name="connsiteX62" fmla="*/ 281266 w 914005"/>
                <a:gd name="connsiteY62" fmla="*/ 651792 h 933054"/>
                <a:gd name="connsiteX63" fmla="*/ 208452 w 914005"/>
                <a:gd name="connsiteY63" fmla="*/ 476065 h 933054"/>
                <a:gd name="connsiteX64" fmla="*/ 208749 w 914005"/>
                <a:gd name="connsiteY64" fmla="*/ 464792 h 933054"/>
                <a:gd name="connsiteX65" fmla="*/ 209568 w 914005"/>
                <a:gd name="connsiteY65" fmla="*/ 453518 h 933054"/>
                <a:gd name="connsiteX66" fmla="*/ 233158 w 914005"/>
                <a:gd name="connsiteY66" fmla="*/ 433687 h 933054"/>
                <a:gd name="connsiteX67" fmla="*/ 252989 w 914005"/>
                <a:gd name="connsiteY67" fmla="*/ 457276 h 933054"/>
                <a:gd name="connsiteX68" fmla="*/ 252357 w 914005"/>
                <a:gd name="connsiteY68" fmla="*/ 466653 h 933054"/>
                <a:gd name="connsiteX69" fmla="*/ 252208 w 914005"/>
                <a:gd name="connsiteY69" fmla="*/ 476065 h 933054"/>
                <a:gd name="connsiteX70" fmla="*/ 312186 w 914005"/>
                <a:gd name="connsiteY70" fmla="*/ 620874 h 933054"/>
                <a:gd name="connsiteX71" fmla="*/ 457033 w 914005"/>
                <a:gd name="connsiteY71" fmla="*/ 680852 h 933054"/>
                <a:gd name="connsiteX72" fmla="*/ 466445 w 914005"/>
                <a:gd name="connsiteY72" fmla="*/ 680703 h 933054"/>
                <a:gd name="connsiteX73" fmla="*/ 475822 w 914005"/>
                <a:gd name="connsiteY73" fmla="*/ 680108 h 93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914005" h="933054">
                  <a:moveTo>
                    <a:pt x="598311" y="800548"/>
                  </a:moveTo>
                  <a:cubicBezTo>
                    <a:pt x="610403" y="800548"/>
                    <a:pt x="620189" y="810333"/>
                    <a:pt x="620189" y="822426"/>
                  </a:cubicBezTo>
                  <a:cubicBezTo>
                    <a:pt x="620189" y="834481"/>
                    <a:pt x="610404" y="844304"/>
                    <a:pt x="598311" y="844304"/>
                  </a:cubicBezTo>
                  <a:lnTo>
                    <a:pt x="21896" y="844304"/>
                  </a:lnTo>
                  <a:cubicBezTo>
                    <a:pt x="9842" y="844304"/>
                    <a:pt x="18" y="834519"/>
                    <a:pt x="18" y="822426"/>
                  </a:cubicBezTo>
                  <a:lnTo>
                    <a:pt x="18" y="246011"/>
                  </a:lnTo>
                  <a:cubicBezTo>
                    <a:pt x="18" y="233919"/>
                    <a:pt x="9803" y="224133"/>
                    <a:pt x="21896" y="224133"/>
                  </a:cubicBezTo>
                  <a:cubicBezTo>
                    <a:pt x="33988" y="224133"/>
                    <a:pt x="43774" y="233918"/>
                    <a:pt x="43774" y="246011"/>
                  </a:cubicBezTo>
                  <a:lnTo>
                    <a:pt x="43774" y="800585"/>
                  </a:lnTo>
                  <a:lnTo>
                    <a:pt x="598348" y="800585"/>
                  </a:lnTo>
                  <a:close/>
                  <a:moveTo>
                    <a:pt x="6418" y="56369"/>
                  </a:moveTo>
                  <a:cubicBezTo>
                    <a:pt x="-2139" y="47811"/>
                    <a:pt x="-2139" y="34007"/>
                    <a:pt x="6418" y="25450"/>
                  </a:cubicBezTo>
                  <a:cubicBezTo>
                    <a:pt x="14976" y="16892"/>
                    <a:pt x="28780" y="16892"/>
                    <a:pt x="37337" y="25450"/>
                  </a:cubicBezTo>
                  <a:lnTo>
                    <a:pt x="119676" y="107789"/>
                  </a:lnTo>
                  <a:lnTo>
                    <a:pt x="225899" y="107789"/>
                  </a:lnTo>
                  <a:lnTo>
                    <a:pt x="250605" y="16222"/>
                  </a:lnTo>
                  <a:cubicBezTo>
                    <a:pt x="253209" y="6437"/>
                    <a:pt x="262064" y="37"/>
                    <a:pt x="271739" y="37"/>
                  </a:cubicBezTo>
                  <a:lnTo>
                    <a:pt x="271739" y="0"/>
                  </a:lnTo>
                  <a:lnTo>
                    <a:pt x="642242" y="0"/>
                  </a:lnTo>
                  <a:cubicBezTo>
                    <a:pt x="652772" y="0"/>
                    <a:pt x="661552" y="7441"/>
                    <a:pt x="663637" y="17338"/>
                  </a:cubicBezTo>
                  <a:lnTo>
                    <a:pt x="688044" y="107789"/>
                  </a:lnTo>
                  <a:lnTo>
                    <a:pt x="892127" y="107789"/>
                  </a:lnTo>
                  <a:cubicBezTo>
                    <a:pt x="904182" y="107789"/>
                    <a:pt x="914005" y="117574"/>
                    <a:pt x="914005" y="129667"/>
                  </a:cubicBezTo>
                  <a:lnTo>
                    <a:pt x="914005" y="822420"/>
                  </a:lnTo>
                  <a:cubicBezTo>
                    <a:pt x="914005" y="834475"/>
                    <a:pt x="904220" y="844298"/>
                    <a:pt x="892127" y="844298"/>
                  </a:cubicBezTo>
                  <a:lnTo>
                    <a:pt x="856148" y="844298"/>
                  </a:lnTo>
                  <a:lnTo>
                    <a:pt x="907568" y="895718"/>
                  </a:lnTo>
                  <a:cubicBezTo>
                    <a:pt x="916125" y="904275"/>
                    <a:pt x="916125" y="918080"/>
                    <a:pt x="907568" y="926637"/>
                  </a:cubicBezTo>
                  <a:cubicBezTo>
                    <a:pt x="899011" y="935194"/>
                    <a:pt x="885206" y="935194"/>
                    <a:pt x="876649" y="926637"/>
                  </a:cubicBezTo>
                  <a:lnTo>
                    <a:pt x="6340" y="56328"/>
                  </a:lnTo>
                  <a:close/>
                  <a:moveTo>
                    <a:pt x="163428" y="151545"/>
                  </a:moveTo>
                  <a:lnTo>
                    <a:pt x="297407" y="285523"/>
                  </a:lnTo>
                  <a:cubicBezTo>
                    <a:pt x="316606" y="269450"/>
                    <a:pt x="338372" y="256167"/>
                    <a:pt x="362036" y="246381"/>
                  </a:cubicBezTo>
                  <a:cubicBezTo>
                    <a:pt x="391429" y="234215"/>
                    <a:pt x="423465" y="227480"/>
                    <a:pt x="457026" y="227480"/>
                  </a:cubicBezTo>
                  <a:cubicBezTo>
                    <a:pt x="525673" y="227480"/>
                    <a:pt x="587776" y="255311"/>
                    <a:pt x="632753" y="300294"/>
                  </a:cubicBezTo>
                  <a:cubicBezTo>
                    <a:pt x="677736" y="345278"/>
                    <a:pt x="705567" y="407374"/>
                    <a:pt x="705567" y="476021"/>
                  </a:cubicBezTo>
                  <a:cubicBezTo>
                    <a:pt x="705567" y="509544"/>
                    <a:pt x="698870" y="541616"/>
                    <a:pt x="686702" y="570973"/>
                  </a:cubicBezTo>
                  <a:cubicBezTo>
                    <a:pt x="676917" y="594637"/>
                    <a:pt x="663634" y="616403"/>
                    <a:pt x="647560" y="635602"/>
                  </a:cubicBezTo>
                  <a:lnTo>
                    <a:pt x="812457" y="800499"/>
                  </a:lnTo>
                  <a:lnTo>
                    <a:pt x="870277" y="800499"/>
                  </a:lnTo>
                  <a:lnTo>
                    <a:pt x="870277" y="151494"/>
                  </a:lnTo>
                  <a:lnTo>
                    <a:pt x="671366" y="151494"/>
                  </a:lnTo>
                  <a:lnTo>
                    <a:pt x="671366" y="151457"/>
                  </a:lnTo>
                  <a:cubicBezTo>
                    <a:pt x="661693" y="151457"/>
                    <a:pt x="652874" y="145020"/>
                    <a:pt x="650232" y="135272"/>
                  </a:cubicBezTo>
                  <a:lnTo>
                    <a:pt x="625526" y="43705"/>
                  </a:lnTo>
                  <a:lnTo>
                    <a:pt x="288465" y="43705"/>
                  </a:lnTo>
                  <a:lnTo>
                    <a:pt x="264057" y="134156"/>
                  </a:lnTo>
                  <a:cubicBezTo>
                    <a:pt x="261974" y="144053"/>
                    <a:pt x="253193" y="151494"/>
                    <a:pt x="242663" y="151494"/>
                  </a:cubicBezTo>
                  <a:lnTo>
                    <a:pt x="163412" y="151494"/>
                  </a:lnTo>
                  <a:close/>
                  <a:moveTo>
                    <a:pt x="328439" y="316556"/>
                  </a:moveTo>
                  <a:lnTo>
                    <a:pt x="616494" y="604611"/>
                  </a:lnTo>
                  <a:cubicBezTo>
                    <a:pt x="628736" y="589468"/>
                    <a:pt x="638856" y="572575"/>
                    <a:pt x="646372" y="554456"/>
                  </a:cubicBezTo>
                  <a:cubicBezTo>
                    <a:pt x="656306" y="530384"/>
                    <a:pt x="661813" y="503929"/>
                    <a:pt x="661813" y="476061"/>
                  </a:cubicBezTo>
                  <a:cubicBezTo>
                    <a:pt x="661813" y="419469"/>
                    <a:pt x="638893" y="368276"/>
                    <a:pt x="601835" y="331214"/>
                  </a:cubicBezTo>
                  <a:cubicBezTo>
                    <a:pt x="564776" y="294152"/>
                    <a:pt x="513580" y="271236"/>
                    <a:pt x="456988" y="271236"/>
                  </a:cubicBezTo>
                  <a:cubicBezTo>
                    <a:pt x="429083" y="271236"/>
                    <a:pt x="402629" y="276742"/>
                    <a:pt x="378592" y="286677"/>
                  </a:cubicBezTo>
                  <a:cubicBezTo>
                    <a:pt x="360436" y="294193"/>
                    <a:pt x="343580" y="304313"/>
                    <a:pt x="328438" y="316554"/>
                  </a:cubicBezTo>
                  <a:close/>
                  <a:moveTo>
                    <a:pt x="475782" y="680106"/>
                  </a:moveTo>
                  <a:cubicBezTo>
                    <a:pt x="487762" y="679064"/>
                    <a:pt x="498329" y="687919"/>
                    <a:pt x="499371" y="699900"/>
                  </a:cubicBezTo>
                  <a:cubicBezTo>
                    <a:pt x="500413" y="711881"/>
                    <a:pt x="491558" y="722448"/>
                    <a:pt x="479540" y="723490"/>
                  </a:cubicBezTo>
                  <a:cubicBezTo>
                    <a:pt x="475484" y="723862"/>
                    <a:pt x="471727" y="724122"/>
                    <a:pt x="468266" y="724308"/>
                  </a:cubicBezTo>
                  <a:cubicBezTo>
                    <a:pt x="463541" y="724495"/>
                    <a:pt x="459821" y="724606"/>
                    <a:pt x="456993" y="724606"/>
                  </a:cubicBezTo>
                  <a:cubicBezTo>
                    <a:pt x="388346" y="724606"/>
                    <a:pt x="326243" y="696775"/>
                    <a:pt x="281266" y="651792"/>
                  </a:cubicBezTo>
                  <a:cubicBezTo>
                    <a:pt x="236289" y="606809"/>
                    <a:pt x="208452" y="544674"/>
                    <a:pt x="208452" y="476065"/>
                  </a:cubicBezTo>
                  <a:cubicBezTo>
                    <a:pt x="208452" y="473237"/>
                    <a:pt x="208564" y="469480"/>
                    <a:pt x="208749" y="464792"/>
                  </a:cubicBezTo>
                  <a:cubicBezTo>
                    <a:pt x="208936" y="461368"/>
                    <a:pt x="209196" y="457573"/>
                    <a:pt x="209568" y="453518"/>
                  </a:cubicBezTo>
                  <a:cubicBezTo>
                    <a:pt x="210610" y="441500"/>
                    <a:pt x="221177" y="432645"/>
                    <a:pt x="233158" y="433687"/>
                  </a:cubicBezTo>
                  <a:cubicBezTo>
                    <a:pt x="245139" y="434729"/>
                    <a:pt x="254031" y="445296"/>
                    <a:pt x="252989" y="457276"/>
                  </a:cubicBezTo>
                  <a:cubicBezTo>
                    <a:pt x="252728" y="460029"/>
                    <a:pt x="252542" y="463155"/>
                    <a:pt x="252357" y="466653"/>
                  </a:cubicBezTo>
                  <a:cubicBezTo>
                    <a:pt x="252282" y="468810"/>
                    <a:pt x="252208" y="471936"/>
                    <a:pt x="252208" y="476065"/>
                  </a:cubicBezTo>
                  <a:cubicBezTo>
                    <a:pt x="252208" y="532620"/>
                    <a:pt x="275127" y="583812"/>
                    <a:pt x="312186" y="620874"/>
                  </a:cubicBezTo>
                  <a:cubicBezTo>
                    <a:pt x="349245" y="657936"/>
                    <a:pt x="400441" y="680852"/>
                    <a:pt x="457033" y="680852"/>
                  </a:cubicBezTo>
                  <a:cubicBezTo>
                    <a:pt x="461162" y="680852"/>
                    <a:pt x="464288" y="680778"/>
                    <a:pt x="466445" y="680703"/>
                  </a:cubicBezTo>
                  <a:cubicBezTo>
                    <a:pt x="469943" y="680518"/>
                    <a:pt x="473031" y="680332"/>
                    <a:pt x="475822" y="68010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</p:spTree>
    <p:custDataLst>
      <p:tags r:id="rId7"/>
    </p:custDataLst>
    <p:extLst>
      <p:ext uri="{BB962C8B-B14F-4D97-AF65-F5344CB8AC3E}">
        <p14:creationId xmlns:p14="http://schemas.microsoft.com/office/powerpoint/2010/main" val="153761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+mn-ea"/>
          <a:cs typeface="微软雅黑" panose="020B0503020204020204" pitchFamily="34" charset="-122"/>
        </a:defRPr>
      </a:lvl1pPr>
      <a:lvl2pPr marL="4572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+mn-ea"/>
          <a:cs typeface="微软雅黑" panose="020B0503020204020204" pitchFamily="34" charset="-122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+mn-ea"/>
          <a:cs typeface="微软雅黑" panose="020B0503020204020204" pitchFamily="34" charset="-122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+mn-ea"/>
          <a:cs typeface="微软雅黑" panose="020B0503020204020204" pitchFamily="34" charset="-122"/>
        </a:defRPr>
      </a:lvl4pPr>
      <a:lvl5pPr marL="1828800" indent="0" algn="r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9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0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0"/>
          </p:nvPr>
        </p:nvSpPr>
        <p:spPr>
          <a:xfrm>
            <a:off x="692244" y="1533568"/>
            <a:ext cx="11576382" cy="1844780"/>
          </a:xfrm>
        </p:spPr>
        <p:txBody>
          <a:bodyPr/>
          <a:lstStyle/>
          <a:p>
            <a:r>
              <a:rPr lang="en-US" altLang="zh-CN" sz="3600" dirty="0" smtClean="0"/>
              <a:t>MCU-Less </a:t>
            </a:r>
            <a:r>
              <a:rPr lang="zh-CN" altLang="en-US" sz="3600" dirty="0" smtClean="0"/>
              <a:t>座椅项目讨论</a:t>
            </a:r>
            <a:endParaRPr lang="zh-CN" altLang="en-US" sz="3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1"/>
          </p:nvPr>
        </p:nvSpPr>
        <p:spPr>
          <a:xfrm>
            <a:off x="692244" y="4354511"/>
            <a:ext cx="7562850" cy="387350"/>
          </a:xfrm>
        </p:spPr>
        <p:txBody>
          <a:bodyPr/>
          <a:lstStyle/>
          <a:p>
            <a:r>
              <a:rPr lang="en-US" altLang="zh-CN" dirty="0" smtClean="0"/>
              <a:t>2026-03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3"/>
          </p:nvPr>
        </p:nvSpPr>
        <p:spPr>
          <a:xfrm>
            <a:off x="692244" y="3616325"/>
            <a:ext cx="7562850" cy="387350"/>
          </a:xfrm>
        </p:spPr>
        <p:txBody>
          <a:bodyPr/>
          <a:lstStyle/>
          <a:p>
            <a:r>
              <a:rPr lang="zh-CN" altLang="en-US" dirty="0" smtClean="0"/>
              <a:t>理想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西威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汇顶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520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25"/>
    </mc:Choice>
    <mc:Fallback xmlns="">
      <p:transition spd="slow" advTm="982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zh-CN" altLang="en-US" dirty="0" smtClean="0"/>
              <a:t>网络拓扑及</a:t>
            </a:r>
            <a:r>
              <a:rPr lang="en-US" altLang="zh-CN" dirty="0" smtClean="0"/>
              <a:t>ZCU </a:t>
            </a:r>
            <a:r>
              <a:rPr lang="zh-CN" altLang="en-US" dirty="0" smtClean="0"/>
              <a:t>主站方案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82704" y="951205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ZCU</a:t>
            </a:r>
            <a:r>
              <a:rPr lang="zh-CN" altLang="en-US" dirty="0" smtClean="0"/>
              <a:t>主站采用</a:t>
            </a:r>
            <a:r>
              <a:rPr lang="en-US" altLang="zh-CN" dirty="0" smtClean="0"/>
              <a:t>100BASE-T1</a:t>
            </a:r>
            <a:r>
              <a:rPr lang="zh-CN" altLang="en-US" dirty="0" smtClean="0"/>
              <a:t>的通用</a:t>
            </a:r>
            <a:r>
              <a:rPr lang="en-US" altLang="zh-CN" dirty="0" smtClean="0"/>
              <a:t>PHY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90476" y="1988798"/>
            <a:ext cx="5439588" cy="368401"/>
          </a:xfrm>
          <a:prstGeom prst="rect">
            <a:avLst/>
          </a:prstGeom>
          <a:gradFill>
            <a:gsLst>
              <a:gs pos="0">
                <a:srgbClr val="238DED"/>
              </a:gs>
              <a:gs pos="100000">
                <a:srgbClr val="18478F"/>
              </a:gs>
            </a:gsLst>
          </a:gradFill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txBody>
          <a:bodyPr wrap="square" lIns="90516" tIns="45259" rIns="90516" bIns="45259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座椅成环通过一个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的两个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口接入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GW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0476" y="2347763"/>
            <a:ext cx="5714244" cy="4116537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835" y="2443828"/>
            <a:ext cx="5536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座椅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port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口，通过两根网线接入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一根为主线，一根为备用线，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需要监控主线的连接状态，主线失效如断开需要及时切换到备用线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756" y="2003061"/>
            <a:ext cx="4261364" cy="368401"/>
          </a:xfrm>
          <a:prstGeom prst="rect">
            <a:avLst/>
          </a:prstGeom>
          <a:gradFill>
            <a:gsLst>
              <a:gs pos="0">
                <a:srgbClr val="238DED"/>
              </a:gs>
              <a:gs pos="100000">
                <a:srgbClr val="18478F"/>
              </a:gs>
            </a:gsLst>
          </a:gradFill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txBody>
          <a:bodyPr wrap="square" lIns="90516" tIns="45259" rIns="90516" bIns="45259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座椅成环并通过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分别接入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GW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77756" y="2371463"/>
            <a:ext cx="5675334" cy="409283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2704" y="1326038"/>
            <a:ext cx="796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优点：</a:t>
            </a:r>
            <a:r>
              <a:rPr lang="zh-CN" altLang="en-US" dirty="0" smtClean="0"/>
              <a:t>兼容性更好，</a:t>
            </a:r>
            <a:r>
              <a:rPr lang="en-US" altLang="zh-CN" dirty="0" smtClean="0"/>
              <a:t>ZCU</a:t>
            </a:r>
            <a:r>
              <a:rPr lang="zh-CN" altLang="en-US" dirty="0"/>
              <a:t>侧</a:t>
            </a:r>
            <a:r>
              <a:rPr lang="zh-CN" altLang="en-US" dirty="0" smtClean="0"/>
              <a:t>主站不需要改动，且可以复用已有的硬件终端；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缺点：</a:t>
            </a:r>
            <a:r>
              <a:rPr lang="zh-CN" altLang="en-US" dirty="0" smtClean="0"/>
              <a:t>不支持分布式音频；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477756" y="2385711"/>
            <a:ext cx="5536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座椅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和座椅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通过各自的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GW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需要实时监控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网中的哪一段出现故障，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及时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通过其他节点把数据发送到对应的目标座椅中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35" y="3314419"/>
            <a:ext cx="5600331" cy="31231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356" y="3354067"/>
            <a:ext cx="5473332" cy="3110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77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3"/>
    </mc:Choice>
    <mc:Fallback xmlns="">
      <p:transition spd="slow" advTm="30633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zh-CN" altLang="en-US" dirty="0" smtClean="0"/>
              <a:t>网络拓扑及</a:t>
            </a:r>
            <a:r>
              <a:rPr lang="en-US" altLang="zh-CN" dirty="0" smtClean="0"/>
              <a:t>ZCU </a:t>
            </a:r>
            <a:r>
              <a:rPr lang="zh-CN" altLang="en-US" dirty="0" smtClean="0"/>
              <a:t>主站方案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82704" y="951205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ZCU</a:t>
            </a:r>
            <a:r>
              <a:rPr lang="zh-CN" altLang="en-US" dirty="0" smtClean="0"/>
              <a:t>主站采用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专用芯片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90476" y="1988798"/>
            <a:ext cx="4264404" cy="368401"/>
          </a:xfrm>
          <a:prstGeom prst="rect">
            <a:avLst/>
          </a:prstGeom>
          <a:gradFill>
            <a:gsLst>
              <a:gs pos="0">
                <a:srgbClr val="238DED"/>
              </a:gs>
              <a:gs pos="100000">
                <a:srgbClr val="18478F"/>
              </a:gs>
            </a:gsLst>
          </a:gradFill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txBody>
          <a:bodyPr wrap="square" lIns="90516" tIns="45259" rIns="90516" bIns="45259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座椅成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环接入到单个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0476" y="2347763"/>
            <a:ext cx="5714244" cy="4116537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835" y="2391460"/>
            <a:ext cx="5536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个座椅都接入某一个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芯片与座椅成环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负责管理的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资源消耗相对要高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7756" y="2003061"/>
            <a:ext cx="4464564" cy="368401"/>
          </a:xfrm>
          <a:prstGeom prst="rect">
            <a:avLst/>
          </a:prstGeom>
          <a:gradFill>
            <a:gsLst>
              <a:gs pos="0">
                <a:srgbClr val="238DED"/>
              </a:gs>
              <a:gs pos="100000">
                <a:srgbClr val="18478F"/>
              </a:gs>
            </a:gsLst>
          </a:gradFill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txBody>
          <a:bodyPr wrap="square" lIns="90516" tIns="45259" rIns="90516" bIns="45259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座椅成环分别接入到两个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77756" y="2371463"/>
            <a:ext cx="5675334" cy="409283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2704" y="1326038"/>
            <a:ext cx="796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优点：</a:t>
            </a:r>
            <a:r>
              <a:rPr lang="zh-CN" altLang="en-US" dirty="0" smtClean="0"/>
              <a:t>支持分布式音频；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缺点：</a:t>
            </a:r>
            <a:r>
              <a:rPr lang="en-US" altLang="zh-CN" dirty="0" smtClean="0"/>
              <a:t>ZCU</a:t>
            </a:r>
            <a:r>
              <a:rPr lang="zh-CN" altLang="en-US" dirty="0" smtClean="0"/>
              <a:t>需要增加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并进行定制化开发；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477756" y="2385711"/>
            <a:ext cx="5536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个座椅分别接入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GPAN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中，座椅与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形成环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ZCU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资源消耗相对比较均衡，且互为备份，在功能安全上更可靠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34" y="2923179"/>
            <a:ext cx="5600065" cy="35299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499" y="2923179"/>
            <a:ext cx="5574491" cy="35075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423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3"/>
    </mc:Choice>
    <mc:Fallback xmlns="">
      <p:transition spd="slow" advTm="30633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/>
          <p:cNvSpPr>
            <a:spLocks noGrp="1"/>
          </p:cNvSpPr>
          <p:nvPr>
            <p:ph type="body" idx="12"/>
          </p:nvPr>
        </p:nvSpPr>
        <p:spPr>
          <a:xfrm>
            <a:off x="584835" y="382846"/>
            <a:ext cx="5760085" cy="638763"/>
          </a:xfrm>
        </p:spPr>
        <p:txBody>
          <a:bodyPr/>
          <a:lstStyle/>
          <a:p>
            <a:r>
              <a:rPr lang="zh-CN" altLang="en-US" dirty="0" smtClean="0"/>
              <a:t>四种方案对比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748325"/>
              </p:ext>
            </p:extLst>
          </p:nvPr>
        </p:nvGraphicFramePr>
        <p:xfrm>
          <a:off x="584835" y="1001289"/>
          <a:ext cx="11191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34016060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394112720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1324576703"/>
                    </a:ext>
                  </a:extLst>
                </a:gridCol>
                <a:gridCol w="2600960">
                  <a:extLst>
                    <a:ext uri="{9D8B030D-6E8A-4147-A177-3AD203B41FA5}">
                      <a16:colId xmlns:a16="http://schemas.microsoft.com/office/drawing/2014/main" val="3917169869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1014468449"/>
                    </a:ext>
                  </a:extLst>
                </a:gridCol>
              </a:tblGrid>
              <a:tr h="349978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ZCU</a:t>
                      </a:r>
                      <a:r>
                        <a:rPr lang="zh-CN" altLang="en-US" dirty="0" smtClean="0"/>
                        <a:t>主站采用通用</a:t>
                      </a:r>
                      <a:r>
                        <a:rPr lang="en-US" altLang="zh-CN" dirty="0" smtClean="0"/>
                        <a:t>PHY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ZCU</a:t>
                      </a:r>
                      <a:r>
                        <a:rPr lang="zh-CN" altLang="en-US" dirty="0" smtClean="0"/>
                        <a:t>主站采用</a:t>
                      </a:r>
                      <a:r>
                        <a:rPr lang="en-US" altLang="zh-CN" dirty="0" smtClean="0"/>
                        <a:t>GPAN</a:t>
                      </a:r>
                      <a:r>
                        <a:rPr lang="zh-CN" altLang="en-US" dirty="0" smtClean="0"/>
                        <a:t>专用芯片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268876"/>
                  </a:ext>
                </a:extLst>
              </a:tr>
              <a:tr h="5541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座椅成环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GPAN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的两个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port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口接入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GW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座椅成环通过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GPAN</a:t>
                      </a: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分别接入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GW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座椅成环接入到单个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GPAN</a:t>
                      </a: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座椅成环分别接入到两个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GPAN</a:t>
                      </a:r>
                      <a:r>
                        <a:rPr lang="zh-CN" altLang="en-US" sz="16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091213"/>
                  </a:ext>
                </a:extLst>
              </a:tr>
              <a:tr h="5541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兼容性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网络兼容性更好</a:t>
                      </a:r>
                      <a:endParaRPr lang="en-US" altLang="zh-CN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ZCU</a:t>
                      </a:r>
                      <a:r>
                        <a:rPr lang="zh-CN" altLang="en-US" sz="1600" dirty="0" smtClean="0"/>
                        <a:t>侧主站不需要改动，且可以复用已有的硬件终端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dirty="0" smtClean="0"/>
                        <a:t>与通用的以太网协议栈不兼容</a:t>
                      </a:r>
                      <a:endParaRPr lang="en-US" altLang="zh-CN" sz="1600" dirty="0" smtClean="0"/>
                    </a:p>
                    <a:p>
                      <a:r>
                        <a:rPr lang="en-US" altLang="zh-CN" sz="1600" dirty="0" smtClean="0"/>
                        <a:t>ZCU</a:t>
                      </a:r>
                      <a:r>
                        <a:rPr lang="zh-CN" altLang="en-US" sz="1600" dirty="0" smtClean="0"/>
                        <a:t>需要增加</a:t>
                      </a:r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并进行定制化开发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46665"/>
                  </a:ext>
                </a:extLst>
              </a:tr>
              <a:tr h="19540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方案总结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、其中一个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GPAN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port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口；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、主线失效后需及时切换到备用线；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、两个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GPAN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可分主线和备用线；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、某一段线路或节点失效，可及时切换到备用线进行转发；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、当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失效时，另一个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可进行接管；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个座椅都接入某一个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GPAN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GPAN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芯片与座椅成小环；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负责管理的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ZCU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资源消耗相对要高；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个座椅分别接入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GPAN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座椅与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ZCU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形成大环；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某一段线路或节点失效，可及时切换线路进行转发；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、当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失效时，另一个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可进行接管；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、符合未来发展趋势；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42895"/>
                  </a:ext>
                </a:extLst>
              </a:tr>
              <a:tr h="12540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、可解决网线故障导致的链路失效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、不能解决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GPAN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管理节点的失效</a:t>
                      </a:r>
                      <a:endParaRPr lang="en-US" altLang="zh-CN" sz="18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可解决网络及节点的失效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、可解决网线故障导致的链路失效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、不能解决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GPAN</a:t>
                      </a:r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管理节点的失效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600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可解决网络及节点的失效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966778"/>
                  </a:ext>
                </a:extLst>
              </a:tr>
            </a:tbl>
          </a:graphicData>
        </a:graphic>
      </p:graphicFrame>
      <p:sp>
        <p:nvSpPr>
          <p:cNvPr id="9" name="五角星 8"/>
          <p:cNvSpPr/>
          <p:nvPr/>
        </p:nvSpPr>
        <p:spPr>
          <a:xfrm>
            <a:off x="684784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角星 9"/>
          <p:cNvSpPr/>
          <p:nvPr/>
        </p:nvSpPr>
        <p:spPr>
          <a:xfrm>
            <a:off x="7096125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五角星 10"/>
          <p:cNvSpPr/>
          <p:nvPr/>
        </p:nvSpPr>
        <p:spPr>
          <a:xfrm>
            <a:off x="734441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五角星 11"/>
          <p:cNvSpPr/>
          <p:nvPr/>
        </p:nvSpPr>
        <p:spPr>
          <a:xfrm>
            <a:off x="426847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五角星 12"/>
          <p:cNvSpPr/>
          <p:nvPr/>
        </p:nvSpPr>
        <p:spPr>
          <a:xfrm>
            <a:off x="4516755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五角星 13"/>
          <p:cNvSpPr/>
          <p:nvPr/>
        </p:nvSpPr>
        <p:spPr>
          <a:xfrm>
            <a:off x="476504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五角星 14"/>
          <p:cNvSpPr/>
          <p:nvPr/>
        </p:nvSpPr>
        <p:spPr>
          <a:xfrm>
            <a:off x="5013325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五角星 16"/>
          <p:cNvSpPr/>
          <p:nvPr/>
        </p:nvSpPr>
        <p:spPr>
          <a:xfrm>
            <a:off x="946023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五角星 17"/>
          <p:cNvSpPr/>
          <p:nvPr/>
        </p:nvSpPr>
        <p:spPr>
          <a:xfrm>
            <a:off x="9708515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五角星 18"/>
          <p:cNvSpPr/>
          <p:nvPr/>
        </p:nvSpPr>
        <p:spPr>
          <a:xfrm>
            <a:off x="995680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角星 19"/>
          <p:cNvSpPr/>
          <p:nvPr/>
        </p:nvSpPr>
        <p:spPr>
          <a:xfrm>
            <a:off x="10205085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五角星 20"/>
          <p:cNvSpPr/>
          <p:nvPr/>
        </p:nvSpPr>
        <p:spPr>
          <a:xfrm>
            <a:off x="179832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五角星 21"/>
          <p:cNvSpPr/>
          <p:nvPr/>
        </p:nvSpPr>
        <p:spPr>
          <a:xfrm>
            <a:off x="2046605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五角星 22"/>
          <p:cNvSpPr/>
          <p:nvPr/>
        </p:nvSpPr>
        <p:spPr>
          <a:xfrm>
            <a:off x="2294890" y="4805680"/>
            <a:ext cx="213360" cy="182880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19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zh-CN" altLang="en-US" dirty="0"/>
              <a:t>座椅</a:t>
            </a:r>
            <a:r>
              <a:rPr lang="zh-CN" altLang="en-US" dirty="0" smtClean="0"/>
              <a:t>的</a:t>
            </a:r>
            <a:r>
              <a:rPr lang="zh-CN" altLang="en-US" dirty="0"/>
              <a:t>功能</a:t>
            </a:r>
            <a:r>
              <a:rPr lang="zh-CN" altLang="en-US" dirty="0" smtClean="0"/>
              <a:t>需求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59149"/>
              </p:ext>
            </p:extLst>
          </p:nvPr>
        </p:nvGraphicFramePr>
        <p:xfrm>
          <a:off x="1236330" y="1589968"/>
          <a:ext cx="8943548" cy="4307840"/>
        </p:xfrm>
        <a:graphic>
          <a:graphicData uri="http://schemas.openxmlformats.org/drawingml/2006/table">
            <a:tbl>
              <a:tblPr/>
              <a:tblGrid>
                <a:gridCol w="1200966">
                  <a:extLst>
                    <a:ext uri="{9D8B030D-6E8A-4147-A177-3AD203B41FA5}">
                      <a16:colId xmlns:a16="http://schemas.microsoft.com/office/drawing/2014/main" val="2496677659"/>
                    </a:ext>
                  </a:extLst>
                </a:gridCol>
                <a:gridCol w="2452032">
                  <a:extLst>
                    <a:ext uri="{9D8B030D-6E8A-4147-A177-3AD203B41FA5}">
                      <a16:colId xmlns:a16="http://schemas.microsoft.com/office/drawing/2014/main" val="283180776"/>
                    </a:ext>
                  </a:extLst>
                </a:gridCol>
                <a:gridCol w="1819501">
                  <a:extLst>
                    <a:ext uri="{9D8B030D-6E8A-4147-A177-3AD203B41FA5}">
                      <a16:colId xmlns:a16="http://schemas.microsoft.com/office/drawing/2014/main" val="447463887"/>
                    </a:ext>
                  </a:extLst>
                </a:gridCol>
                <a:gridCol w="2071433">
                  <a:extLst>
                    <a:ext uri="{9D8B030D-6E8A-4147-A177-3AD203B41FA5}">
                      <a16:colId xmlns:a16="http://schemas.microsoft.com/office/drawing/2014/main" val="2476434300"/>
                    </a:ext>
                  </a:extLst>
                </a:gridCol>
                <a:gridCol w="1399616">
                  <a:extLst>
                    <a:ext uri="{9D8B030D-6E8A-4147-A177-3AD203B41FA5}">
                      <a16:colId xmlns:a16="http://schemas.microsoft.com/office/drawing/2014/main" val="245097901"/>
                    </a:ext>
                  </a:extLst>
                </a:gridCol>
              </a:tblGrid>
              <a:tr h="2476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dirty="0">
                          <a:effectLst/>
                        </a:rPr>
                        <a:t>座椅功能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dirty="0">
                          <a:effectLst/>
                        </a:rPr>
                        <a:t>一</a:t>
                      </a:r>
                      <a:r>
                        <a:rPr lang="zh-CN" altLang="en-US" sz="1400" b="0" dirty="0" smtClean="0">
                          <a:effectLst/>
                        </a:rPr>
                        <a:t>排 * </a:t>
                      </a:r>
                      <a:r>
                        <a:rPr lang="en-US" altLang="zh-CN" sz="1400" b="0" dirty="0" smtClean="0">
                          <a:effectLst/>
                        </a:rPr>
                        <a:t>2</a:t>
                      </a:r>
                      <a:endParaRPr lang="en-US" altLang="zh-CN" sz="1400" b="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dirty="0">
                          <a:effectLst/>
                        </a:rPr>
                        <a:t>二</a:t>
                      </a:r>
                      <a:r>
                        <a:rPr lang="zh-CN" altLang="en-US" sz="1400" b="0" dirty="0" smtClean="0">
                          <a:effectLst/>
                        </a:rPr>
                        <a:t>排 * </a:t>
                      </a:r>
                      <a:r>
                        <a:rPr lang="en-US" altLang="zh-CN" sz="1400" b="0" dirty="0" smtClean="0">
                          <a:effectLst/>
                        </a:rPr>
                        <a:t>2</a:t>
                      </a:r>
                      <a:endParaRPr lang="en-US" altLang="zh-CN" sz="1400" b="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dirty="0">
                          <a:effectLst/>
                        </a:rPr>
                        <a:t>三排</a:t>
                      </a: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en-US" sz="1400" b="0" dirty="0">
                          <a:effectLst/>
                        </a:rPr>
                        <a:t>TBD)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193374"/>
                  </a:ext>
                </a:extLst>
              </a:tr>
              <a:tr h="2476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输入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按键开关</a:t>
                      </a:r>
                      <a:r>
                        <a:rPr lang="zh-CN" altLang="en-US" sz="1400" dirty="0">
                          <a:effectLst/>
                        </a:rPr>
                        <a:t>检测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TBD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TBD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TBD</a:t>
                      </a:r>
                    </a:p>
                    <a:p>
                      <a:pPr fontAlgn="ctr"/>
                      <a:r>
                        <a:rPr lang="en-US" sz="1400" dirty="0">
                          <a:effectLst/>
                        </a:rPr>
                        <a:t/>
                      </a: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373559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电机</a:t>
                      </a:r>
                      <a:r>
                        <a:rPr lang="en-US" sz="1400" dirty="0">
                          <a:effectLst/>
                        </a:rPr>
                        <a:t>ADC</a:t>
                      </a:r>
                      <a:r>
                        <a:rPr lang="zh-CN" altLang="en-US" sz="1400" dirty="0">
                          <a:effectLst/>
                        </a:rPr>
                        <a:t>回采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6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≤ </a:t>
                      </a:r>
                      <a:r>
                        <a:rPr lang="en-US" altLang="zh-CN" sz="1400" dirty="0" smtClean="0">
                          <a:effectLst/>
                        </a:rPr>
                        <a:t>6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173040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电机霍尔捕获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6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≤ </a:t>
                      </a:r>
                      <a:r>
                        <a:rPr lang="en-US" altLang="zh-CN" sz="1400" dirty="0" smtClean="0">
                          <a:effectLst/>
                        </a:rPr>
                        <a:t>6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842138"/>
                  </a:ext>
                </a:extLst>
              </a:tr>
              <a:tr h="24765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输出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加热</a:t>
                      </a:r>
                      <a:endParaRPr 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4326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通风</a:t>
                      </a:r>
                      <a:endParaRPr 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2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2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0722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方向</a:t>
                      </a:r>
                      <a:r>
                        <a:rPr lang="zh-CN" altLang="en-US" sz="1400" dirty="0" smtClean="0">
                          <a:effectLst/>
                        </a:rPr>
                        <a:t>调节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12 </a:t>
                      </a:r>
                      <a:r>
                        <a:rPr lang="zh-CN" altLang="en-US" sz="1400" dirty="0" smtClean="0">
                          <a:effectLst/>
                        </a:rPr>
                        <a:t>项</a:t>
                      </a:r>
                      <a:r>
                        <a:rPr lang="zh-CN" altLang="en-US" sz="1400" dirty="0">
                          <a:effectLst/>
                        </a:rPr>
                        <a:t>调节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</a:rPr>
                        <a:t>≤ </a:t>
                      </a:r>
                      <a:r>
                        <a:rPr lang="en-US" altLang="zh-CN" sz="1400" dirty="0" smtClean="0">
                          <a:effectLst/>
                        </a:rPr>
                        <a:t>12 </a:t>
                      </a:r>
                      <a:r>
                        <a:rPr lang="zh-CN" altLang="en-US" sz="1400" dirty="0" smtClean="0">
                          <a:effectLst/>
                        </a:rPr>
                        <a:t>项调节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70739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>
                          <a:effectLst/>
                        </a:rPr>
                        <a:t>4D</a:t>
                      </a:r>
                      <a:r>
                        <a:rPr lang="zh-CN" altLang="en-US" sz="1400" smtClean="0">
                          <a:effectLst/>
                        </a:rPr>
                        <a:t>震动</a:t>
                      </a:r>
                      <a:endParaRPr lang="zh-CN" altLang="en-US" sz="140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/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439555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座垫软硬</a:t>
                      </a:r>
                      <a:r>
                        <a:rPr lang="zh-CN" altLang="en-US" sz="1400" dirty="0" smtClean="0">
                          <a:effectLst/>
                        </a:rPr>
                        <a:t>调节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通讯</a:t>
                      </a:r>
                      <a:endParaRPr lang="en-US" altLang="zh-CN" sz="1400" dirty="0" smtClean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主</a:t>
                      </a:r>
                      <a:r>
                        <a:rPr lang="zh-CN" altLang="en-US" sz="1400" dirty="0">
                          <a:effectLst/>
                        </a:rPr>
                        <a:t>驾有</a:t>
                      </a:r>
                      <a:r>
                        <a:rPr lang="en-US" altLang="zh-CN" sz="1400" dirty="0">
                          <a:effectLst/>
                        </a:rPr>
                        <a:t>/</a:t>
                      </a:r>
                      <a:r>
                        <a:rPr lang="zh-CN" altLang="en-US" sz="1400" dirty="0">
                          <a:effectLst/>
                        </a:rPr>
                        <a:t>副驾无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/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124987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按摩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通讯</a:t>
                      </a:r>
                      <a:endParaRPr 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通讯</a:t>
                      </a:r>
                      <a:endParaRPr lang="en-US" altLang="zh-CN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653975"/>
                  </a:ext>
                </a:extLst>
              </a:tr>
              <a:tr h="2476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>
                          <a:effectLst/>
                        </a:rPr>
                        <a:t>通讯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ETH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≤ </a:t>
                      </a:r>
                      <a:r>
                        <a:rPr lang="en-US" altLang="zh-CN" sz="1400" dirty="0" smtClean="0">
                          <a:effectLst/>
                        </a:rPr>
                        <a:t>3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dirty="0" smtClean="0">
                          <a:effectLst/>
                        </a:rPr>
                        <a:t>≤ </a:t>
                      </a:r>
                      <a:r>
                        <a:rPr lang="en-US" altLang="zh-CN" sz="1400" dirty="0" smtClean="0">
                          <a:effectLst/>
                        </a:rPr>
                        <a:t>3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489823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effectLst/>
                        </a:rPr>
                        <a:t>CAN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4711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</a:rPr>
                        <a:t>LIN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dirty="0" smtClean="0">
                          <a:effectLst/>
                        </a:rPr>
                        <a:t>1 </a:t>
                      </a:r>
                      <a:r>
                        <a:rPr lang="zh-CN" altLang="en-US" sz="1400" dirty="0" smtClean="0">
                          <a:effectLst/>
                        </a:rPr>
                        <a:t>路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803838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10088" y="1762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2704" y="951205"/>
            <a:ext cx="959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结合</a:t>
            </a:r>
            <a:r>
              <a:rPr lang="zh-CN" altLang="en-US" dirty="0" smtClean="0"/>
              <a:t>理想车型和常见的座椅功能，梳理了以下的功能清单，后续根据实际车型配置做调整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94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3"/>
    </mc:Choice>
    <mc:Fallback xmlns="">
      <p:transition spd="slow" advTm="30633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zh-CN" altLang="en-US" dirty="0"/>
              <a:t>座椅</a:t>
            </a:r>
            <a:r>
              <a:rPr lang="zh-CN" altLang="en-US" dirty="0" smtClean="0"/>
              <a:t>的系统框图</a:t>
            </a:r>
            <a:endParaRPr lang="zh-CN" alt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10088" y="1762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1" y="1195045"/>
            <a:ext cx="4765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/>
              <a:t>结合一、二排座椅的功能需求，做最大化的硬件设计开发，根据不同的配置做空贴生产即可。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4D</a:t>
            </a:r>
            <a:r>
              <a:rPr lang="zh-CN" altLang="en-US" dirty="0"/>
              <a:t>震动</a:t>
            </a:r>
            <a:r>
              <a:rPr lang="zh-CN" altLang="en-US" dirty="0" smtClean="0"/>
              <a:t>功能做预留，</a:t>
            </a:r>
            <a:r>
              <a:rPr lang="zh-CN" altLang="en-US" dirty="0"/>
              <a:t>如果</a:t>
            </a:r>
            <a:r>
              <a:rPr lang="en-US" altLang="zh-CN" dirty="0" smtClean="0"/>
              <a:t>ZCU</a:t>
            </a:r>
            <a:r>
              <a:rPr lang="zh-CN" altLang="en-US" dirty="0" smtClean="0"/>
              <a:t>或者座舱融合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硬件，可以实现该功能。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040" y="702227"/>
            <a:ext cx="6687694" cy="56949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057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3"/>
    </mc:Choice>
    <mc:Fallback xmlns="">
      <p:transition spd="slow" advTm="30633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zh-CN" dirty="0" smtClean="0"/>
              <a:t>ZCU </a:t>
            </a:r>
            <a:r>
              <a:rPr lang="zh-CN" altLang="en-US" dirty="0" smtClean="0"/>
              <a:t>软件架构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15" y="1021609"/>
            <a:ext cx="6847097" cy="542013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11440" y="1285769"/>
            <a:ext cx="39217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GPAN</a:t>
            </a:r>
            <a:r>
              <a:rPr lang="zh-CN" altLang="en-US" b="1" dirty="0" smtClean="0"/>
              <a:t>协议栈：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协议 </a:t>
            </a:r>
            <a:r>
              <a:rPr lang="en-US" altLang="zh-CN" dirty="0" smtClean="0"/>
              <a:t>SDK 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/>
              <a:t>RCP</a:t>
            </a:r>
            <a:r>
              <a:rPr lang="zh-CN" altLang="en-US" b="1" dirty="0" smtClean="0"/>
              <a:t>标准接口层：</a:t>
            </a:r>
            <a:r>
              <a:rPr lang="zh-CN" altLang="en-US" dirty="0" smtClean="0"/>
              <a:t>屏蔽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协议栈或其他</a:t>
            </a:r>
            <a:r>
              <a:rPr lang="en-US" altLang="zh-CN" dirty="0" smtClean="0"/>
              <a:t>RCP</a:t>
            </a:r>
            <a:r>
              <a:rPr lang="zh-CN" altLang="en-US" dirty="0" smtClean="0"/>
              <a:t>协议栈的接口细节，提供通用标准的接口，实现</a:t>
            </a:r>
            <a:r>
              <a:rPr lang="en-US" altLang="zh-CN" dirty="0" smtClean="0"/>
              <a:t>MCU-Less RCP</a:t>
            </a:r>
            <a:r>
              <a:rPr lang="zh-CN" altLang="en-US" dirty="0"/>
              <a:t>交互</a:t>
            </a:r>
            <a:r>
              <a:rPr lang="zh-CN" altLang="en-US" dirty="0" smtClean="0"/>
              <a:t>与具体协议栈的解耦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b="1" dirty="0" smtClean="0"/>
              <a:t>座椅设备抽象层：</a:t>
            </a:r>
            <a:r>
              <a:rPr lang="zh-CN" altLang="en-US" dirty="0" smtClean="0"/>
              <a:t>对</a:t>
            </a:r>
            <a:r>
              <a:rPr lang="en-US" altLang="zh-CN" dirty="0" smtClean="0"/>
              <a:t>MCU-Less</a:t>
            </a:r>
            <a:r>
              <a:rPr lang="zh-CN" altLang="en-US" dirty="0" smtClean="0"/>
              <a:t>座椅边缘节点进行设备抽象，实现上层功能与</a:t>
            </a:r>
            <a:r>
              <a:rPr lang="en-US" altLang="zh-CN" dirty="0" smtClean="0"/>
              <a:t>MCU-Less RCP</a:t>
            </a:r>
            <a:r>
              <a:rPr lang="zh-CN" altLang="en-US" dirty="0" smtClean="0"/>
              <a:t>的解耦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b="1" dirty="0" smtClean="0"/>
              <a:t>座椅原子服务层：</a:t>
            </a:r>
            <a:r>
              <a:rPr lang="zh-CN" altLang="en-US" dirty="0" smtClean="0"/>
              <a:t>实现座椅功能的原子服务化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b="1" dirty="0" smtClean="0"/>
              <a:t>座椅应用：</a:t>
            </a:r>
            <a:r>
              <a:rPr lang="zh-CN" altLang="en-US" dirty="0" smtClean="0"/>
              <a:t>实现座椅的组合及应用功能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531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3"/>
    </mc:Choice>
    <mc:Fallback xmlns="">
      <p:transition spd="slow" advTm="30633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zh-CN" dirty="0" smtClean="0"/>
              <a:t>QA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67360" y="1259840"/>
            <a:ext cx="1036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ZCU</a:t>
            </a:r>
            <a:r>
              <a:rPr lang="zh-CN" altLang="en-US" dirty="0" smtClean="0"/>
              <a:t>主站与座椅节点的网络拓扑形态、及</a:t>
            </a:r>
            <a:r>
              <a:rPr lang="en-US" altLang="zh-CN" dirty="0" smtClean="0"/>
              <a:t>ZCU</a:t>
            </a:r>
            <a:r>
              <a:rPr lang="zh-CN" altLang="en-US" dirty="0" smtClean="0"/>
              <a:t>主站的</a:t>
            </a:r>
            <a:r>
              <a:rPr lang="en-US" altLang="zh-CN" dirty="0" smtClean="0"/>
              <a:t>PHY</a:t>
            </a:r>
            <a:r>
              <a:rPr lang="zh-CN" altLang="en-US" dirty="0" smtClean="0"/>
              <a:t>芯片选择讨论？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 smtClean="0"/>
              <a:t>、</a:t>
            </a:r>
            <a:r>
              <a:rPr lang="zh-CN" altLang="en-US" dirty="0"/>
              <a:t>本期</a:t>
            </a:r>
            <a:r>
              <a:rPr lang="en-US" altLang="zh-CN" dirty="0"/>
              <a:t>POC</a:t>
            </a:r>
            <a:r>
              <a:rPr lang="zh-CN" altLang="en-US" dirty="0"/>
              <a:t>是否考虑分布式音频，及座椅硬件设计是否提前考虑头枕音频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SCU</a:t>
            </a:r>
            <a:r>
              <a:rPr lang="zh-CN" altLang="en-US" dirty="0" smtClean="0"/>
              <a:t>的硬件分工讨论？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3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3"/>
    </mc:Choice>
    <mc:Fallback xmlns="">
      <p:transition spd="slow" advTm="30633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55,&quot;left&quot;:40.3,&quot;top&quot;:366.45,&quot;width&quot;:367.5588976377952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54992125984253,&quot;left&quot;:40.321496062992125,&quot;top&quot;:366.45,&quot;width&quot;:367.5374015748031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55,&quot;left&quot;:40.3,&quot;top&quot;:366.45,&quot;width&quot;:367.5588976377952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55,&quot;left&quot;:40.3,&quot;top&quot;:366.45,&quot;width&quot;:367.5588976377952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55,&quot;left&quot;:40.3,&quot;top&quot;:366.45,&quot;width&quot;:367.5588976377952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4807</TotalTime>
  <Words>901</Words>
  <Application>Microsoft Office PowerPoint</Application>
  <PresentationFormat>宽屏</PresentationFormat>
  <Paragraphs>135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 Unicode MS</vt:lpstr>
      <vt:lpstr>等线</vt:lpstr>
      <vt:lpstr>等线 Light</vt:lpstr>
      <vt:lpstr>微软雅黑</vt:lpstr>
      <vt:lpstr>Arial</vt:lpstr>
      <vt:lpstr>Wingdings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Wu, Yi</dc:creator>
  <cp:lastModifiedBy>Wu, Yi</cp:lastModifiedBy>
  <cp:revision>88</cp:revision>
  <dcterms:created xsi:type="dcterms:W3CDTF">2026-03-02T01:32:38Z</dcterms:created>
  <dcterms:modified xsi:type="dcterms:W3CDTF">2026-03-10T07:05:24Z</dcterms:modified>
</cp:coreProperties>
</file>